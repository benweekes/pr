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62" r:id="rId6"/>
    <p:sldId id="264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DBE1E34-3B27-C34F-B0F9-D985C311A961}">
          <p14:sldIdLst>
            <p14:sldId id="256"/>
            <p14:sldId id="257"/>
            <p14:sldId id="258"/>
            <p14:sldId id="261"/>
            <p14:sldId id="262"/>
            <p14:sldId id="264"/>
            <p14:sldId id="266"/>
            <p14:sldId id="268"/>
          </p14:sldIdLst>
        </p14:section>
        <p14:section name="sample 页" id="{D1B854D5-F8DB-7642-A361-84E49E8A72B5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81"/>
  </p:normalViewPr>
  <p:slideViewPr>
    <p:cSldViewPr snapToGrid="0">
      <p:cViewPr varScale="1">
        <p:scale>
          <a:sx n="116" d="100"/>
          <a:sy n="116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采用率</c:v>
          </c:tx>
          <c:spPr>
            <a:solidFill>
              <a:srgbClr val="7349FF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25" b="1">
                    <a:solidFill>
                      <a:schemeClr val="lt1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场景 A</c:v>
              </c:pt>
              <c:pt idx="1">
                <c:v>场景 B</c:v>
              </c:pt>
              <c:pt idx="2">
                <c:v>场景 C</c:v>
              </c:pt>
              <c:pt idx="3">
                <c:v>场景 D</c:v>
              </c:pt>
            </c:strLit>
          </c:cat>
          <c:val>
            <c:numLit>
              <c:formatCode>General</c:formatCode>
              <c:ptCount val="4"/>
              <c:pt idx="0">
                <c:v>82</c:v>
              </c:pt>
              <c:pt idx="1">
                <c:v>68</c:v>
              </c:pt>
              <c:pt idx="2">
                <c:v>51</c:v>
              </c:pt>
              <c:pt idx="3">
                <c:v>37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945-254D-AC97-021A4D0F9D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chemeClr val="accent3">
                <a:lumMod val="40000"/>
              </a:schemeClr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chemeClr val="accent3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accent3">
                <a:lumMod val="40000"/>
              </a:schemeClr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chemeClr val="accent3"/>
                </a:solidFill>
                <a:latin typeface="PingFang SC"/>
                <a:ea typeface="PingFang SC"/>
                <a:cs typeface="PingFang SC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solidFill>
      <a:schemeClr val="dk1">
        <a:alpha val="0"/>
      </a:schemeClr>
    </a:solidFill>
    <a:ln w="0">
      <a:solidFill>
        <a:schemeClr val="dk1">
          <a:alpha val="0"/>
        </a:schemeClr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2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Three-step process layout. Preserve the left-to-right causal order and keep each description to two short lines.</a:t>
            </a:r>
          </a:p>
          <a:p>
            <a:endParaRPr/>
          </a:p>
          <a:p>
            <a:r>
              <a:t>[Sources]</a:t>
            </a:r>
          </a:p>
          <a:p>
            <a:r>
              <a:t>- Palette and typography: iRTE-2026-VI-guide-share/styles.css</a:t>
            </a:r>
          </a:p>
          <a:p>
            <a:r>
              <a:t>- Visible copy is sample content for a reusable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layout. Duplicate or remove rows while preserving the 103 px rhythm and the fixed time/title/type hierarchy.</a:t>
            </a:r>
          </a:p>
          <a:p>
            <a:endParaRPr/>
          </a:p>
          <a:p>
            <a:r>
              <a:t>[Sources]</a:t>
            </a:r>
          </a:p>
          <a:p>
            <a:r>
              <a:t>- Palette and typography: iRTE-2026-VI-guide-share/styles.css</a:t>
            </a:r>
          </a:p>
          <a:p>
            <a:r>
              <a:t>- Agenda labels are sample content for a reusable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Two-column layout. Left is the primary claim; right is a three-point progression. Keep each bullet to one line.</a:t>
            </a:r>
          </a:p>
          <a:p>
            <a:endParaRPr/>
          </a:p>
          <a:p>
            <a:r>
              <a:t>[Sources]</a:t>
            </a:r>
          </a:p>
          <a:p>
            <a:r>
              <a:t>- Palette and typography: iRTE-2026-VI-guide-share/styles.css</a:t>
            </a:r>
          </a:p>
          <a:p>
            <a:r>
              <a:t>- Visible copy is sample content for a reusable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Image-and-text layout. Replace the image frame with one strong visual and keep the supporting copy under 55 Chinese characters.</a:t>
            </a:r>
          </a:p>
          <a:p>
            <a:endParaRPr/>
          </a:p>
          <a:p>
            <a:r>
              <a:t>[Sources]</a:t>
            </a:r>
          </a:p>
          <a:p>
            <a:r>
              <a:t>- Example image: iRTE-2026-VI-guide-share/assets/iRTE2026-KV-final.png</a:t>
            </a:r>
          </a:p>
          <a:p>
            <a:r>
              <a:t>- Palette and typography: iRTE-2026-VI-guide-share/styles.css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layout with a native editable chart. Replace the sample values and rewrite the slide title as a takeaway, not a topic label.</a:t>
            </a:r>
          </a:p>
          <a:p>
            <a:endParaRPr/>
          </a:p>
          <a:p>
            <a:r>
              <a:t>[Sources]</a:t>
            </a:r>
          </a:p>
          <a:p>
            <a:r>
              <a:t>- Palette and typography: iRTE-2026-VI-guide-share/styles.css</a:t>
            </a:r>
          </a:p>
          <a:p>
            <a:r>
              <a:t>- All numbers are template sample data, not external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 layout. Use equivalent levels of detail on both sides and keep the right-hand state as the intended direction.</a:t>
            </a:r>
          </a:p>
          <a:p>
            <a:endParaRPr/>
          </a:p>
          <a:p>
            <a:r>
              <a:t>[Sources]</a:t>
            </a:r>
          </a:p>
          <a:p>
            <a:r>
              <a:t>- Palette and typography: iRTE-2026-VI-guide-share/styles.css</a:t>
            </a:r>
          </a:p>
          <a:p>
            <a:r>
              <a:t>- Visible copy is sample content for a reusable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Three-step process layout. Preserve the left-to-right causal order and keep each description to two short lines.</a:t>
            </a:r>
          </a:p>
          <a:p>
            <a:endParaRPr/>
          </a:p>
          <a:p>
            <a:r>
              <a:t>[Sources]</a:t>
            </a:r>
          </a:p>
          <a:p>
            <a:r>
              <a:t>- Palette and typography: iRTE-2026-VI-guide-share/styles.css</a:t>
            </a:r>
          </a:p>
          <a:p>
            <a:r>
              <a:t>- Visible copy is sample content for a reusable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Timeline layout. Use four evenly spaced milestones; show dates above and audience-facing outcomes below.</a:t>
            </a:r>
          </a:p>
          <a:p>
            <a:endParaRPr/>
          </a:p>
          <a:p>
            <a:r>
              <a:t>[Sources]</a:t>
            </a:r>
          </a:p>
          <a:p>
            <a:r>
              <a:t>- Local visual background: iRTE-2026-final/assets/bg-about-desktop-figma.png</a:t>
            </a:r>
          </a:p>
          <a:p>
            <a:r>
              <a:t>- Visible milestones are sample content for a reusable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Q&amp;A layout. Keep it minimal so the speaker and audience remain the focus.</a:t>
            </a:r>
          </a:p>
          <a:p>
            <a:endParaRPr/>
          </a:p>
          <a:p>
            <a:r>
              <a:t>[Sources]</a:t>
            </a:r>
          </a:p>
          <a:p>
            <a:r>
              <a:t>- Local visual background: iRTE-2026-final/assets/bg-about-desktop-figma.png</a:t>
            </a:r>
          </a:p>
          <a:p>
            <a:r>
              <a:t>- Local iRTE lockup: iRTE-2026-final/assets/about-irte-lockup.png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KV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RTE 章节页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章节页背景图（来自第2页）"/>
          <p:cNvPicPr>
            <a:picLocks noChangeAspect="1"/>
          </p:cNvPicPr>
          <p:nvPr/>
        </p:nvPicPr>
        <p:blipFill>
          <a:blip r:embed="rId2"/>
          <a:srcRect l="10648" r="106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10AE5EE-87B7-88C5-0908-4AA84509FA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34902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0545991" y="248698"/>
            <a:ext cx="1414450" cy="51168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RTE 章节页母版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17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-KEYNOTE / 主题演讲">
            <a:extLst>
              <a:ext uri="{FF2B5EF4-FFF2-40B4-BE49-F238E27FC236}">
                <a16:creationId xmlns:a16="http://schemas.microsoft.com/office/drawing/2014/main" id="{EDBD63BD-3BAC-C196-AE2A-1ACE9B213CB3}"/>
              </a:ext>
            </a:extLst>
          </p:cNvPr>
          <p:cNvSpPr>
            <a:spLocks noGrp="1"/>
          </p:cNvSpPr>
          <p:nvPr/>
        </p:nvSpPr>
        <p:spPr>
          <a:xfrm>
            <a:off x="685799" y="867103"/>
            <a:ext cx="7782339" cy="4388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28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&gt; 企业级客服智能体专场</a:t>
            </a:r>
            <a:endParaRPr sz="2800" b="1">
              <a:solidFill>
                <a:schemeClr val="accent4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7" name="speaker-line">
            <a:extLst>
              <a:ext uri="{FF2B5EF4-FFF2-40B4-BE49-F238E27FC236}">
                <a16:creationId xmlns:a16="http://schemas.microsoft.com/office/drawing/2014/main" id="{1C6CD756-C196-B84B-2780-33D152B1E580}"/>
              </a:ext>
            </a:extLst>
          </p:cNvPr>
          <p:cNvSpPr>
            <a:spLocks noGrp="1"/>
          </p:cNvSpPr>
          <p:nvPr/>
        </p:nvSpPr>
        <p:spPr>
          <a:xfrm>
            <a:off x="704850" y="4094766"/>
            <a:ext cx="5334000" cy="519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>
                <a:latin typeface="PingFang SC"/>
                <a:ea typeface="PingFang SC"/>
                <a:cs typeface="PingFang SC"/>
              </a:defRPr>
            </a:pPr>
            <a:r>
              <a:rPr sz="2800">
                <a:solidFill>
                  <a:schemeClr val="accent3"/>
                </a:solidFill>
                <a:latin typeface="Source Han Sans CN Regular"/>
                <a:ea typeface="Source Han Sans CN Regular"/>
                <a:cs typeface="Source Han Sans CN Regular"/>
              </a:rPr>
              <a:t>合作媒体：</a:t>
            </a:r>
          </a:p>
        </p:txBody>
      </p:sp>
      <p:pic>
        <p:nvPicPr>
          <p:cNvPr id="16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143" y="3071550"/>
            <a:ext cx="2034533" cy="736000"/>
          </a:xfrm>
          <a:prstGeom prst="rect">
            <a:avLst/>
          </a:prstGeom>
        </p:spPr>
      </p:pic>
      <p:sp>
        <p:nvSpPr>
          <p:cNvPr id="2" name="key-message">
            <a:extLst>
              <a:ext uri="{FF2B5EF4-FFF2-40B4-BE49-F238E27FC236}">
                <a16:creationId xmlns:a16="http://schemas.microsoft.com/office/drawing/2014/main" id="{7377CF81-921E-645A-81DD-F528A8E8D9F8}"/>
              </a:ext>
            </a:extLst>
          </p:cNvPr>
          <p:cNvSpPr>
            <a:spLocks noGrp="1"/>
          </p:cNvSpPr>
          <p:nvPr/>
        </p:nvSpPr>
        <p:spPr>
          <a:xfrm>
            <a:off x="685800" y="1510937"/>
            <a:ext cx="9042094" cy="237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5100" b="1">
                <a:latin typeface="Alimama ShuHeiTi"/>
                <a:ea typeface="Alimama ShuHeiTi"/>
                <a:cs typeface="Alimama ShuHeiTi"/>
              </a:defRPr>
            </a:pPr>
            <a:r>
              <a:rPr sz="48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客服智能体的“最后一公里”：从能对话到办成事</a:t>
            </a:r>
            <a:endParaRPr sz="48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A8029BA-2BA4-D516-BB30-A22A130EDDC4}"/>
              </a:ext>
            </a:extLst>
          </p:cNvPr>
          <p:cNvSpPr>
            <a:spLocks noGrp="1"/>
          </p:cNvSpPr>
          <p:nvPr/>
        </p:nvSpPr>
        <p:spPr>
          <a:xfrm>
            <a:off x="2606536" y="4105316"/>
            <a:ext cx="1530627" cy="47520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467" y="4123131"/>
            <a:ext cx="954107" cy="4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9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-KEYNOTE / 主题演讲">
            <a:extLst>
              <a:ext uri="{FF2B5EF4-FFF2-40B4-BE49-F238E27FC236}">
                <a16:creationId xmlns:a16="http://schemas.microsoft.com/office/drawing/2014/main" id="{A5795E5B-7A5B-CE0C-8A78-B1A775C0C03E}"/>
              </a:ext>
            </a:extLst>
          </p:cNvPr>
          <p:cNvSpPr>
            <a:spLocks noGrp="1"/>
          </p:cNvSpPr>
          <p:nvPr/>
        </p:nvSpPr>
        <p:spPr>
          <a:xfrm>
            <a:off x="685799" y="867103"/>
            <a:ext cx="7782339" cy="4388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28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&gt; XXXXXX 产品专场</a:t>
            </a:r>
            <a:endParaRPr sz="2800" b="1"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7" name="speaker-line">
            <a:extLst>
              <a:ext uri="{FF2B5EF4-FFF2-40B4-BE49-F238E27FC236}">
                <a16:creationId xmlns:a16="http://schemas.microsoft.com/office/drawing/2014/main" id="{D4FF35F6-5308-4BE4-DB6E-4CDB859963AC}"/>
              </a:ext>
            </a:extLst>
          </p:cNvPr>
          <p:cNvSpPr>
            <a:spLocks noGrp="1"/>
          </p:cNvSpPr>
          <p:nvPr/>
        </p:nvSpPr>
        <p:spPr>
          <a:xfrm>
            <a:off x="704850" y="4094767"/>
            <a:ext cx="5334000" cy="519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>
                <a:latin typeface="PingFang SC"/>
                <a:ea typeface="PingFang SC"/>
                <a:cs typeface="PingFang SC"/>
              </a:defRPr>
            </a:pPr>
            <a:r>
              <a:rPr sz="280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演讲者姓名｜公司· 职务</a:t>
            </a:r>
            <a:endParaRPr sz="28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6E23C3-11F5-4B4A-8485-CB4E9B11424C}"/>
              </a:ext>
            </a:extLst>
          </p:cNvPr>
          <p:cNvSpPr>
            <a:spLocks noGrp="1"/>
          </p:cNvSpPr>
          <p:nvPr/>
        </p:nvSpPr>
        <p:spPr>
          <a:xfrm>
            <a:off x="704850" y="4718655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chemeClr val="accent3"/>
                </a:solidFill>
                <a:latin typeface="Source Han Sans CN Regular"/>
                <a:ea typeface="Source Han Sans CN Regular"/>
                <a:cs typeface="Source Han Sans CN Regular"/>
              </a:rPr>
              <a:t>2026.10.23  ·  北京</a:t>
            </a:r>
            <a:endParaRPr sz="1275" b="0">
              <a:latin typeface="IBM Plex Mono"/>
              <a:ea typeface="IBM Plex Mono"/>
              <a:cs typeface="IBM Plex Mono"/>
            </a:endParaRPr>
          </a:p>
        </p:txBody>
      </p:sp>
      <p:pic>
        <p:nvPicPr>
          <p:cNvPr id="1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143" y="3071550"/>
            <a:ext cx="2034533" cy="736000"/>
          </a:xfrm>
          <a:prstGeom prst="rect">
            <a:avLst/>
          </a:prstGeom>
        </p:spPr>
      </p:pic>
      <p:sp>
        <p:nvSpPr>
          <p:cNvPr id="2" name="key-message">
            <a:extLst>
              <a:ext uri="{FF2B5EF4-FFF2-40B4-BE49-F238E27FC236}">
                <a16:creationId xmlns:a16="http://schemas.microsoft.com/office/drawing/2014/main" id="{05A56FA6-8637-0BBD-9BAE-9FA5DFB016D8}"/>
              </a:ext>
            </a:extLst>
          </p:cNvPr>
          <p:cNvSpPr>
            <a:spLocks noGrp="1"/>
          </p:cNvSpPr>
          <p:nvPr/>
        </p:nvSpPr>
        <p:spPr>
          <a:xfrm>
            <a:off x="685800" y="1510937"/>
            <a:ext cx="9042094" cy="237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5100" b="1">
                <a:latin typeface="Alimama ShuHeiTi"/>
                <a:ea typeface="Alimama ShuHeiTi"/>
                <a:cs typeface="Alimama ShuHeiTi"/>
              </a:defRPr>
            </a:pPr>
            <a:r>
              <a:rPr sz="48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演讲主题/演讲主题/演讲主题/演讲主题/演讲主题/演讲主题/</a:t>
            </a:r>
          </a:p>
        </p:txBody>
      </p:sp>
    </p:spTree>
    <p:extLst>
      <p:ext uri="{BB962C8B-B14F-4D97-AF65-F5344CB8AC3E}">
        <p14:creationId xmlns:p14="http://schemas.microsoft.com/office/powerpoint/2010/main" val="279412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-number">
            <a:extLst>
              <a:ext uri="{FF2B5EF4-FFF2-40B4-BE49-F238E27FC236}">
                <a16:creationId xmlns:a16="http://schemas.microsoft.com/office/drawing/2014/main" id="{9279E35E-56B1-4359-8E46-B4B23AE21FC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3429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l">
              <a:buNone/>
              <a:defRPr sz="11250" b="1">
                <a:latin typeface="IBM Plex Mono"/>
                <a:ea typeface="IBM Plex Mono"/>
                <a:cs typeface="IBM Plex Mono"/>
              </a:defRPr>
            </a:pPr>
            <a:r>
              <a:rPr sz="11250" b="1">
                <a:solidFill>
                  <a:schemeClr val="accent1"/>
                </a:solidFill>
                <a:latin typeface="Z Labs Bitmap 12px JP"/>
                <a:ea typeface="Z Labs Bitmap 12px JP"/>
                <a:cs typeface="Z Labs Bitmap 12px JP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235C6C-724C-40CE-8893-E7596D0C0E8B}"/>
              </a:ext>
            </a:extLst>
          </p:cNvPr>
          <p:cNvSpPr>
            <a:spLocks noGrp="1"/>
          </p:cNvSpPr>
          <p:nvPr/>
        </p:nvSpPr>
        <p:spPr>
          <a:xfrm>
            <a:off x="9467850" y="566737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2100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&gt; NEXT</a:t>
            </a:r>
          </a:p>
        </p:txBody>
      </p:sp>
      <p:pic>
        <p:nvPicPr>
          <p:cNvPr id="13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45991" y="248698"/>
            <a:ext cx="1414450" cy="511683"/>
          </a:xfrm>
          <a:prstGeom prst="rect">
            <a:avLst/>
          </a:prstGeom>
        </p:spPr>
      </p:pic>
      <p:sp>
        <p:nvSpPr>
          <p:cNvPr id="3" name="speaker-line">
            <a:extLst>
              <a:ext uri="{FF2B5EF4-FFF2-40B4-BE49-F238E27FC236}">
                <a16:creationId xmlns:a16="http://schemas.microsoft.com/office/drawing/2014/main" id="{7D8A8ADE-9141-9D6A-B265-CD439720D754}"/>
              </a:ext>
            </a:extLst>
          </p:cNvPr>
          <p:cNvSpPr>
            <a:spLocks noGrp="1"/>
          </p:cNvSpPr>
          <p:nvPr/>
        </p:nvSpPr>
        <p:spPr>
          <a:xfrm>
            <a:off x="914170" y="4226715"/>
            <a:ext cx="5895172" cy="5195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  <a:defRPr sz="1800" b="1">
                <a:latin typeface="PingFang SC"/>
                <a:ea typeface="PingFang SC"/>
                <a:cs typeface="PingFang SC"/>
              </a:defRPr>
            </a:pPr>
            <a:r>
              <a:rPr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小标题占位/小标题占位/小标题占位/小标题占位/小标题/小标题/小标题/小标题/</a:t>
            </a:r>
          </a:p>
        </p:txBody>
      </p:sp>
      <p:sp>
        <p:nvSpPr>
          <p:cNvPr id="4" name="key-message">
            <a:extLst>
              <a:ext uri="{FF2B5EF4-FFF2-40B4-BE49-F238E27FC236}">
                <a16:creationId xmlns:a16="http://schemas.microsoft.com/office/drawing/2014/main" id="{030F2758-4EC4-6ED6-17F8-1301EB40F554}"/>
              </a:ext>
            </a:extLst>
          </p:cNvPr>
          <p:cNvSpPr>
            <a:spLocks noGrp="1"/>
          </p:cNvSpPr>
          <p:nvPr/>
        </p:nvSpPr>
        <p:spPr>
          <a:xfrm>
            <a:off x="685800" y="2375238"/>
            <a:ext cx="9042094" cy="237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5100" b="1">
                <a:latin typeface="Alimama ShuHeiTi"/>
                <a:ea typeface="Alimama ShuHeiTi"/>
                <a:cs typeface="Alimama ShuHeiTi"/>
              </a:defRPr>
            </a:pPr>
            <a:r>
              <a:rPr sz="48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章节主题/章节主题/章节主题/章节主题/章节主题/章节主题/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77CF78-815E-B134-6E96-7E62FB468EA2}"/>
              </a:ext>
            </a:extLst>
          </p:cNvPr>
          <p:cNvSpPr>
            <a:spLocks noGrp="1"/>
          </p:cNvSpPr>
          <p:nvPr/>
        </p:nvSpPr>
        <p:spPr>
          <a:xfrm>
            <a:off x="685800" y="4306224"/>
            <a:ext cx="38100" cy="7239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884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910AB73-7699-49A8-B816-22E67D5CAFB6}"/>
              </a:ext>
            </a:extLst>
          </p:cNvPr>
          <p:cNvSpPr>
            <a:spLocks noGrp="1"/>
          </p:cNvSpPr>
          <p:nvPr/>
        </p:nvSpPr>
        <p:spPr>
          <a:xfrm>
            <a:off x="685799" y="952500"/>
            <a:ext cx="9860191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标题写在这里</a:t>
            </a:r>
          </a:p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endParaRPr sz="32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kicker-TIMELINE / 路线图">
            <a:extLst>
              <a:ext uri="{FF2B5EF4-FFF2-40B4-BE49-F238E27FC236}">
                <a16:creationId xmlns:a16="http://schemas.microsoft.com/office/drawing/2014/main" id="{5D33A413-3293-DEC4-A87B-E17E15315D4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所属章节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8C5620-DF05-A698-5487-BAAE22B0052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8EF1841-B1FE-FA43-7E0E-9759143AB599}"/>
              </a:ext>
            </a:extLst>
          </p:cNvPr>
          <p:cNvSpPr>
            <a:spLocks noGrp="1"/>
          </p:cNvSpPr>
          <p:nvPr/>
        </p:nvSpPr>
        <p:spPr>
          <a:xfrm>
            <a:off x="603351" y="1990661"/>
            <a:ext cx="3466004" cy="4712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>
              <a:lnSpc>
                <a:spcPct val="150000"/>
              </a:lnSpc>
              <a:buNone/>
            </a:pPr>
            <a:r>
              <a:rPr sz="20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文案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C10EDD4-08DE-5E04-F33F-02C12FAEDB58}"/>
              </a:ext>
            </a:extLst>
          </p:cNvPr>
          <p:cNvSpPr>
            <a:spLocks noGrp="1"/>
          </p:cNvSpPr>
          <p:nvPr/>
        </p:nvSpPr>
        <p:spPr>
          <a:xfrm>
            <a:off x="603351" y="2461876"/>
            <a:ext cx="4846323" cy="13230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just">
              <a:lnSpc>
                <a:spcPct val="150000"/>
              </a:lnSpc>
              <a:buNone/>
            </a:pPr>
            <a:r>
              <a:rPr sz="140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例子：音频是实时互动最初的载体，它在实时互动场景演变的过程中也在不断经历着算法革新，并与新技术进行融合。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1F0F98F-F11B-1B6B-BC30-237CB669218C}"/>
              </a:ext>
            </a:extLst>
          </p:cNvPr>
          <p:cNvSpPr>
            <a:spLocks noGrp="1"/>
          </p:cNvSpPr>
          <p:nvPr/>
        </p:nvSpPr>
        <p:spPr>
          <a:xfrm>
            <a:off x="603351" y="3784922"/>
            <a:ext cx="3466004" cy="4712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>
              <a:lnSpc>
                <a:spcPct val="150000"/>
              </a:lnSpc>
              <a:buNone/>
            </a:pPr>
            <a:r>
              <a:rPr sz="20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文案 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0CCCFC17-FC99-1EBB-A234-6B2D97E3DFBD}"/>
              </a:ext>
            </a:extLst>
          </p:cNvPr>
          <p:cNvSpPr>
            <a:spLocks noGrp="1"/>
          </p:cNvSpPr>
          <p:nvPr/>
        </p:nvSpPr>
        <p:spPr>
          <a:xfrm>
            <a:off x="603351" y="4256137"/>
            <a:ext cx="4724405" cy="13230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140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第一条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140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第二条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140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第三条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8FDF9A-893E-2FC5-A197-FD79FA0C5DC2}"/>
              </a:ext>
            </a:extLst>
          </p:cNvPr>
          <p:cNvSpPr>
            <a:spLocks noGrp="1"/>
          </p:cNvSpPr>
          <p:nvPr/>
        </p:nvSpPr>
        <p:spPr>
          <a:xfrm>
            <a:off x="6354824" y="1936727"/>
            <a:ext cx="5233825" cy="3696389"/>
          </a:xfrm>
          <a:prstGeom prst="rect">
            <a:avLst/>
          </a:prstGeom>
          <a:solidFill>
            <a:schemeClr val="dk2">
              <a:lumMod val="96000"/>
              <a:lumOff val="4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885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03D32D-B2FA-F7D6-BB88-6ACDB498F70E}"/>
              </a:ext>
            </a:extLst>
          </p:cNvPr>
          <p:cNvSpPr>
            <a:spLocks noGrp="1"/>
          </p:cNvSpPr>
          <p:nvPr/>
        </p:nvSpPr>
        <p:spPr>
          <a:xfrm>
            <a:off x="685799" y="509588"/>
            <a:ext cx="9860191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标题写在这里</a:t>
            </a:r>
          </a:p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endParaRPr sz="32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63740B-F838-480F-B358-DFBF7B291CE8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276600" cy="3381375"/>
          </a:xfrm>
          <a:prstGeom prst="rect">
            <a:avLst/>
          </a:prstGeom>
          <a:noFill/>
          <a:ln w="14288">
            <a:solidFill>
              <a:schemeClr val="accent4"/>
            </a:solidFill>
            <a:prstDash val="solid"/>
          </a:ln>
        </p:spPr>
        <p:txBody>
          <a:bodyPr wrap="square" lIns="266700" tIns="952500" rIns="266700" bIns="19050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例子：音频是实时互动最初的载体，它在实时互动场景演变的过程中也在不断经历着算法革新，并与新技术进行融合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8FD509-FDF7-4CD6-92CA-3F83C2EB7004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3276600" cy="338137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4288">
            <a:solidFill>
              <a:schemeClr val="accent4"/>
            </a:solidFill>
            <a:prstDash val="solid"/>
          </a:ln>
        </p:spPr>
        <p:txBody>
          <a:bodyPr wrap="square" lIns="266700" tIns="952500" rIns="266700" bIns="19050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RTE 行业年度大事件盘点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RTE 行业年度前沿技术趋势解读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联合国人口基金最新公益项目发布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FB55C5-A58C-46A0-843F-DAC24426AD30}"/>
              </a:ext>
            </a:extLst>
          </p:cNvPr>
          <p:cNvSpPr>
            <a:spLocks noGrp="1"/>
          </p:cNvSpPr>
          <p:nvPr/>
        </p:nvSpPr>
        <p:spPr>
          <a:xfrm>
            <a:off x="8229600" y="2266950"/>
            <a:ext cx="3276600" cy="3381375"/>
          </a:xfrm>
          <a:prstGeom prst="rect">
            <a:avLst/>
          </a:prstGeom>
          <a:noFill/>
          <a:ln w="14288">
            <a:solidFill>
              <a:schemeClr val="accent4"/>
            </a:solidFill>
            <a:prstDash val="solid"/>
          </a:ln>
        </p:spPr>
        <p:txBody>
          <a:bodyPr wrap="square" lIns="266700" tIns="952500" rIns="266700" bIns="19050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例子：音频是实时互动最初的载体，它在实时互动场景演变的过程中也在不断经历着算法革新，并与新技术进行融合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445A157-5865-43A8-9A7E-6EE949E7768A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1200150" cy="12001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04D1F5-EF25-4981-BDE7-60447E3B9EF6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274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行业论坛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992F58-5195-4EBD-8F68-C79E6BB68869}"/>
              </a:ext>
            </a:extLst>
          </p:cNvPr>
          <p:cNvSpPr>
            <a:spLocks noGrp="1"/>
          </p:cNvSpPr>
          <p:nvPr/>
        </p:nvSpPr>
        <p:spPr>
          <a:xfrm>
            <a:off x="2114550" y="3038475"/>
            <a:ext cx="419100" cy="19050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pPr algn="ctr">
              <a:lnSpc>
                <a:spcPct val="13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D307E1-8DE7-4421-BBCD-F366421A1727}"/>
              </a:ext>
            </a:extLst>
          </p:cNvPr>
          <p:cNvSpPr>
            <a:spLocks noGrp="1"/>
          </p:cNvSpPr>
          <p:nvPr/>
        </p:nvSpPr>
        <p:spPr>
          <a:xfrm>
            <a:off x="4762500" y="2362200"/>
            <a:ext cx="1200150" cy="12001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E0194C-CE59-4918-9566-8CA162BBDE74}"/>
              </a:ext>
            </a:extLst>
          </p:cNvPr>
          <p:cNvSpPr>
            <a:spLocks noGrp="1"/>
          </p:cNvSpPr>
          <p:nvPr/>
        </p:nvSpPr>
        <p:spPr>
          <a:xfrm>
            <a:off x="4724400" y="2476500"/>
            <a:ext cx="274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行业论坛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7A0B68-F038-4447-A7FD-3F1B401D72C2}"/>
              </a:ext>
            </a:extLst>
          </p:cNvPr>
          <p:cNvSpPr>
            <a:spLocks noGrp="1"/>
          </p:cNvSpPr>
          <p:nvPr/>
        </p:nvSpPr>
        <p:spPr>
          <a:xfrm>
            <a:off x="5886450" y="3038475"/>
            <a:ext cx="419100" cy="19050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pPr algn="ctr">
              <a:lnSpc>
                <a:spcPct val="13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18799E4-F74D-4AB7-B3DC-952AC60836AB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1200150" cy="12001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4994C5-E554-4598-9792-FFE2B2772C31}"/>
              </a:ext>
            </a:extLst>
          </p:cNvPr>
          <p:cNvSpPr>
            <a:spLocks noGrp="1"/>
          </p:cNvSpPr>
          <p:nvPr/>
        </p:nvSpPr>
        <p:spPr>
          <a:xfrm>
            <a:off x="8496300" y="2476500"/>
            <a:ext cx="274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行业论坛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6D135F-9944-4D05-A823-D74D3472E3E7}"/>
              </a:ext>
            </a:extLst>
          </p:cNvPr>
          <p:cNvSpPr>
            <a:spLocks noGrp="1"/>
          </p:cNvSpPr>
          <p:nvPr/>
        </p:nvSpPr>
        <p:spPr>
          <a:xfrm>
            <a:off x="9658350" y="3038475"/>
            <a:ext cx="419100" cy="19050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pPr algn="ctr">
              <a:lnSpc>
                <a:spcPct val="13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30CFB1-DC99-12DC-DE93-4F4B45F93740}"/>
              </a:ext>
            </a:extLst>
          </p:cNvPr>
          <p:cNvSpPr>
            <a:spLocks noGrp="1"/>
          </p:cNvSpPr>
          <p:nvPr/>
        </p:nvSpPr>
        <p:spPr>
          <a:xfrm>
            <a:off x="685800" y="1138238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lnSpc>
                <a:spcPct val="150000"/>
              </a:lnSpc>
              <a:buNone/>
            </a:pPr>
            <a:r>
              <a:rPr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副标题 / 文字段落</a:t>
            </a:r>
            <a:endParaRPr>
              <a:latin typeface="Source Han Sans CN Regular"/>
              <a:ea typeface="Source Han Sans CN Regular"/>
              <a:cs typeface="Source Han Sans CN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868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A445A157-5865-43A8-9A7E-6EE949E7768A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1200150" cy="12001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04D1F5-EF25-4981-BDE7-60447E3B9EF6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276600" cy="6096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行业论坛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63740B-F838-480F-B358-DFBF7B291CE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2766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例子：音频是实时互动最初的载体，它在实时互动场景演变的过程中也在不断经历着算法革新，并与新技术进行融合</a:t>
            </a:r>
            <a:endParaRPr sz="2175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992F58-5195-4EBD-8F68-C79E6BB68869}"/>
              </a:ext>
            </a:extLst>
          </p:cNvPr>
          <p:cNvSpPr>
            <a:spLocks noGrp="1"/>
          </p:cNvSpPr>
          <p:nvPr/>
        </p:nvSpPr>
        <p:spPr>
          <a:xfrm>
            <a:off x="514350" y="44386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3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D307E1-8DE7-4421-BBCD-F366421A1727}"/>
              </a:ext>
            </a:extLst>
          </p:cNvPr>
          <p:cNvSpPr>
            <a:spLocks noGrp="1"/>
          </p:cNvSpPr>
          <p:nvPr/>
        </p:nvSpPr>
        <p:spPr>
          <a:xfrm>
            <a:off x="4762500" y="2362200"/>
            <a:ext cx="1200150" cy="12001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E0194C-CE59-4918-9566-8CA162BBDE74}"/>
              </a:ext>
            </a:extLst>
          </p:cNvPr>
          <p:cNvSpPr>
            <a:spLocks noGrp="1"/>
          </p:cNvSpPr>
          <p:nvPr/>
        </p:nvSpPr>
        <p:spPr>
          <a:xfrm>
            <a:off x="4457700" y="2333625"/>
            <a:ext cx="3276600" cy="6096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行业论坛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8FD509-FDF7-4CD6-92CA-3F83C2EB7004}"/>
              </a:ext>
            </a:extLst>
          </p:cNvPr>
          <p:cNvSpPr>
            <a:spLocks noGrp="1"/>
          </p:cNvSpPr>
          <p:nvPr/>
        </p:nvSpPr>
        <p:spPr>
          <a:xfrm>
            <a:off x="4457700" y="3238500"/>
            <a:ext cx="32766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RTE 行业年度大事件盘点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RTE 行业年度前沿技术趋势解读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联合国人口基金最新公益项目发布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7A0B68-F038-4447-A7FD-3F1B401D72C2}"/>
              </a:ext>
            </a:extLst>
          </p:cNvPr>
          <p:cNvSpPr>
            <a:spLocks noGrp="1"/>
          </p:cNvSpPr>
          <p:nvPr/>
        </p:nvSpPr>
        <p:spPr>
          <a:xfrm>
            <a:off x="4210050" y="44386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3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18799E4-F74D-4AB7-B3DC-952AC60836AB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1200150" cy="12001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4994C5-E554-4598-9792-FFE2B2772C31}"/>
              </a:ext>
            </a:extLst>
          </p:cNvPr>
          <p:cNvSpPr>
            <a:spLocks noGrp="1"/>
          </p:cNvSpPr>
          <p:nvPr/>
        </p:nvSpPr>
        <p:spPr>
          <a:xfrm>
            <a:off x="8229600" y="2333625"/>
            <a:ext cx="3276600" cy="6096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行业论坛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FB55C5-A58C-46A0-843F-DAC24426AD30}"/>
              </a:ext>
            </a:extLst>
          </p:cNvPr>
          <p:cNvSpPr>
            <a:spLocks noGrp="1"/>
          </p:cNvSpPr>
          <p:nvPr/>
        </p:nvSpPr>
        <p:spPr>
          <a:xfrm>
            <a:off x="8229600" y="3238500"/>
            <a:ext cx="32766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例子：音频是实时互动最初的载体，它在实时互动场景演变的过程中也在不断经历着算法革新，并与新技术进行融合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8CCDB9-BB91-FC0C-696F-A7A49FA60C43}"/>
              </a:ext>
            </a:extLst>
          </p:cNvPr>
          <p:cNvSpPr>
            <a:spLocks noGrp="1"/>
          </p:cNvSpPr>
          <p:nvPr/>
        </p:nvSpPr>
        <p:spPr>
          <a:xfrm>
            <a:off x="685799" y="509588"/>
            <a:ext cx="9860191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标题写在这里</a:t>
            </a:r>
          </a:p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endParaRPr sz="32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4765DC-18C6-B82E-7238-4DA867FFE8A7}"/>
              </a:ext>
            </a:extLst>
          </p:cNvPr>
          <p:cNvSpPr>
            <a:spLocks noGrp="1"/>
          </p:cNvSpPr>
          <p:nvPr/>
        </p:nvSpPr>
        <p:spPr>
          <a:xfrm>
            <a:off x="685800" y="1138238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lnSpc>
                <a:spcPct val="150000"/>
              </a:lnSpc>
              <a:buNone/>
            </a:pPr>
            <a:r>
              <a:rPr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副标题 / 文字段落</a:t>
            </a:r>
            <a:endParaRPr>
              <a:latin typeface="Source Han Sans CN Regular"/>
              <a:ea typeface="Source Han Sans CN Regular"/>
              <a:cs typeface="Source Han Sans CN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868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1330A2A-9F2A-441B-BAF2-2B503225F411}"/>
              </a:ext>
            </a:extLst>
          </p:cNvPr>
          <p:cNvSpPr>
            <a:spLocks noGrp="1"/>
          </p:cNvSpPr>
          <p:nvPr/>
        </p:nvSpPr>
        <p:spPr>
          <a:xfrm>
            <a:off x="5469834" y="1353726"/>
            <a:ext cx="555693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buNone/>
              <a:defRPr sz="6600" b="1">
                <a:latin typeface="IBM Plex Mono"/>
                <a:ea typeface="IBM Plex Mono"/>
                <a:cs typeface="IBM Plex Mono"/>
              </a:defRPr>
            </a:pPr>
            <a:r>
              <a:rPr sz="660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Thanks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625851-426C-4D4C-B54B-BD70712C133A}"/>
              </a:ext>
            </a:extLst>
          </p:cNvPr>
          <p:cNvSpPr>
            <a:spLocks noGrp="1"/>
          </p:cNvSpPr>
          <p:nvPr/>
        </p:nvSpPr>
        <p:spPr>
          <a:xfrm>
            <a:off x="5469834" y="2608035"/>
            <a:ext cx="3925957" cy="1390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2"/>
          </a:bodyPr>
          <a:lstStyle/>
          <a:p>
            <a:pPr algn="l">
              <a:lnSpc>
                <a:spcPct val="106000"/>
              </a:lnSpc>
              <a:buNone/>
              <a:defRPr sz="4575" b="1">
                <a:latin typeface="Alimama ShuHeiTi"/>
                <a:ea typeface="Alimama ShuHeiTi"/>
                <a:cs typeface="Alimama ShuHeiTi"/>
              </a:defRPr>
            </a:pPr>
            <a:r>
              <a:rPr sz="7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谢谢参与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F7DAB-9239-4322-BE91-D2AF7D3EFA0C}"/>
              </a:ext>
            </a:extLst>
          </p:cNvPr>
          <p:cNvSpPr>
            <a:spLocks noGrp="1"/>
          </p:cNvSpPr>
          <p:nvPr/>
        </p:nvSpPr>
        <p:spPr>
          <a:xfrm>
            <a:off x="5469834" y="4150194"/>
            <a:ext cx="3925957" cy="57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latin typeface="IBM Plex Mono"/>
                <a:ea typeface="IBM Plex Mono"/>
                <a:cs typeface="IBM Plex Mono"/>
              </a:defRPr>
            </a:pPr>
            <a:r>
              <a:rPr sz="28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扫码填问卷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1F3828-65C0-403C-BD03-C81983CE726B}"/>
              </a:ext>
            </a:extLst>
          </p:cNvPr>
          <p:cNvSpPr>
            <a:spLocks noGrp="1"/>
          </p:cNvSpPr>
          <p:nvPr/>
        </p:nvSpPr>
        <p:spPr>
          <a:xfrm>
            <a:off x="1066800" y="5403849"/>
            <a:ext cx="82550" cy="73025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551459-62FB-40E9-9A4D-B5A8F00391C4}"/>
              </a:ext>
            </a:extLst>
          </p:cNvPr>
          <p:cNvSpPr>
            <a:spLocks noGrp="1"/>
          </p:cNvSpPr>
          <p:nvPr/>
        </p:nvSpPr>
        <p:spPr>
          <a:xfrm>
            <a:off x="1238250" y="5403849"/>
            <a:ext cx="82550" cy="73025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688DB8-FDD3-4396-8F77-A5E354D82DB2}"/>
              </a:ext>
            </a:extLst>
          </p:cNvPr>
          <p:cNvSpPr>
            <a:spLocks noGrp="1"/>
          </p:cNvSpPr>
          <p:nvPr/>
        </p:nvSpPr>
        <p:spPr>
          <a:xfrm>
            <a:off x="1409700" y="5403849"/>
            <a:ext cx="82550" cy="73025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4BE9F2-EAAC-494D-828B-90F6BB61626D}"/>
              </a:ext>
            </a:extLst>
          </p:cNvPr>
          <p:cNvSpPr>
            <a:spLocks noGrp="1"/>
          </p:cNvSpPr>
          <p:nvPr/>
        </p:nvSpPr>
        <p:spPr>
          <a:xfrm>
            <a:off x="1581150" y="5403849"/>
            <a:ext cx="82550" cy="73025"/>
          </a:xfrm>
          <a:prstGeom prst="rect">
            <a:avLst/>
          </a:prstGeom>
          <a:solidFill>
            <a:schemeClr val="accent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028" y="248739"/>
            <a:ext cx="1414462" cy="511687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357B657C-FC5B-7513-B175-F4A288038A77}"/>
              </a:ext>
            </a:extLst>
          </p:cNvPr>
          <p:cNvSpPr>
            <a:spLocks noGrp="1"/>
          </p:cNvSpPr>
          <p:nvPr/>
        </p:nvSpPr>
        <p:spPr>
          <a:xfrm>
            <a:off x="1066800" y="1185500"/>
            <a:ext cx="3537370" cy="3537370"/>
          </a:xfrm>
          <a:prstGeom prst="roundRect">
            <a:avLst>
              <a:gd name="adj" fmla="val 11983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bg1"/>
                </a:solidFill>
                <a:latin typeface="Source Han Sans CN Regular"/>
                <a:ea typeface="Source Han Sans CN Regular"/>
                <a:cs typeface="Source Han Sans CN Regular"/>
              </a:rPr>
              <a:t>二维码</a:t>
            </a:r>
          </a:p>
        </p:txBody>
      </p:sp>
    </p:spTree>
    <p:extLst>
      <p:ext uri="{BB962C8B-B14F-4D97-AF65-F5344CB8AC3E}">
        <p14:creationId xmlns:p14="http://schemas.microsoft.com/office/powerpoint/2010/main" val="797714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-PROCESS / 三步流程">
            <a:extLst>
              <a:ext uri="{FF2B5EF4-FFF2-40B4-BE49-F238E27FC236}">
                <a16:creationId xmlns:a16="http://schemas.microsoft.com/office/drawing/2014/main" id="{9939BBAE-35B2-92C4-DF46-AE48D0D3642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圆桌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BC5A79-00BB-8F8E-C22F-F87013D3A89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5EC914-BCD3-13DA-956F-437FD03CD5D1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982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3750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圆桌主题/圆桌主题/圆桌主题/圆桌主题/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40C5DE7-78E1-44C4-9AF6-9D97BDB5BEB6}"/>
              </a:ext>
            </a:extLst>
          </p:cNvPr>
          <p:cNvSpPr>
            <a:spLocks noGrp="1"/>
          </p:cNvSpPr>
          <p:nvPr/>
        </p:nvSpPr>
        <p:spPr>
          <a:xfrm>
            <a:off x="744400" y="2335163"/>
            <a:ext cx="1844951" cy="1844951"/>
          </a:xfrm>
          <a:prstGeom prst="ellipse">
            <a:avLst/>
          </a:prstGeom>
          <a:solidFill>
            <a:schemeClr val="dk2">
              <a:lumMod val="96000"/>
              <a:lumOff val="4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07D7FE-F67F-D2EE-F4B9-DABB27B9972B}"/>
              </a:ext>
            </a:extLst>
          </p:cNvPr>
          <p:cNvSpPr>
            <a:spLocks noGrp="1"/>
          </p:cNvSpPr>
          <p:nvPr/>
        </p:nvSpPr>
        <p:spPr>
          <a:xfrm>
            <a:off x="666750" y="4373513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姓名</a:t>
            </a:r>
            <a:endParaRPr sz="2175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9824B-5376-D0D3-3E68-DC850395DA90}"/>
              </a:ext>
            </a:extLst>
          </p:cNvPr>
          <p:cNvSpPr>
            <a:spLocks noGrp="1"/>
          </p:cNvSpPr>
          <p:nvPr/>
        </p:nvSpPr>
        <p:spPr>
          <a:xfrm>
            <a:off x="514350" y="4827814"/>
            <a:ext cx="2305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F2F6E3F-1445-13AC-29BB-07D687D52901}"/>
              </a:ext>
            </a:extLst>
          </p:cNvPr>
          <p:cNvSpPr>
            <a:spLocks noGrp="1"/>
          </p:cNvSpPr>
          <p:nvPr/>
        </p:nvSpPr>
        <p:spPr>
          <a:xfrm>
            <a:off x="3454943" y="2335163"/>
            <a:ext cx="1844951" cy="1844951"/>
          </a:xfrm>
          <a:prstGeom prst="ellipse">
            <a:avLst/>
          </a:prstGeom>
          <a:solidFill>
            <a:schemeClr val="dk2">
              <a:lumMod val="96000"/>
              <a:lumOff val="4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B44272-4B80-F4EE-15AE-454D4055514C}"/>
              </a:ext>
            </a:extLst>
          </p:cNvPr>
          <p:cNvSpPr>
            <a:spLocks noGrp="1"/>
          </p:cNvSpPr>
          <p:nvPr/>
        </p:nvSpPr>
        <p:spPr>
          <a:xfrm>
            <a:off x="3377293" y="4373513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姓名</a:t>
            </a:r>
            <a:endParaRPr sz="2175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DDCD35-AD8C-1D60-B236-F5EDA8EAD379}"/>
              </a:ext>
            </a:extLst>
          </p:cNvPr>
          <p:cNvSpPr>
            <a:spLocks noGrp="1"/>
          </p:cNvSpPr>
          <p:nvPr/>
        </p:nvSpPr>
        <p:spPr>
          <a:xfrm>
            <a:off x="3224893" y="4827814"/>
            <a:ext cx="2305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5DD9C98-A455-76A9-A52D-F23CF273E756}"/>
              </a:ext>
            </a:extLst>
          </p:cNvPr>
          <p:cNvSpPr>
            <a:spLocks noGrp="1"/>
          </p:cNvSpPr>
          <p:nvPr/>
        </p:nvSpPr>
        <p:spPr>
          <a:xfrm>
            <a:off x="6165486" y="2335163"/>
            <a:ext cx="1844951" cy="1844951"/>
          </a:xfrm>
          <a:prstGeom prst="ellipse">
            <a:avLst/>
          </a:prstGeom>
          <a:solidFill>
            <a:schemeClr val="dk2">
              <a:lumMod val="96000"/>
              <a:lumOff val="4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6375FC-7F15-D333-AF33-F45DF446A4FC}"/>
              </a:ext>
            </a:extLst>
          </p:cNvPr>
          <p:cNvSpPr>
            <a:spLocks noGrp="1"/>
          </p:cNvSpPr>
          <p:nvPr/>
        </p:nvSpPr>
        <p:spPr>
          <a:xfrm>
            <a:off x="6087836" y="4373513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姓名</a:t>
            </a:r>
            <a:endParaRPr sz="2175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ACB22D-D599-027A-37DA-1DF3C67402EC}"/>
              </a:ext>
            </a:extLst>
          </p:cNvPr>
          <p:cNvSpPr>
            <a:spLocks noGrp="1"/>
          </p:cNvSpPr>
          <p:nvPr/>
        </p:nvSpPr>
        <p:spPr>
          <a:xfrm>
            <a:off x="5935436" y="4827814"/>
            <a:ext cx="2305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5470EBF-93D7-CE1D-7175-48AF018BA8AF}"/>
              </a:ext>
            </a:extLst>
          </p:cNvPr>
          <p:cNvSpPr>
            <a:spLocks noGrp="1"/>
          </p:cNvSpPr>
          <p:nvPr/>
        </p:nvSpPr>
        <p:spPr>
          <a:xfrm>
            <a:off x="8876029" y="2335163"/>
            <a:ext cx="1844951" cy="1844951"/>
          </a:xfrm>
          <a:prstGeom prst="ellipse">
            <a:avLst/>
          </a:prstGeom>
          <a:solidFill>
            <a:schemeClr val="dk2">
              <a:lumMod val="96000"/>
              <a:lumOff val="4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00E10B-1FD3-41BE-9DF9-F46A504F48BF}"/>
              </a:ext>
            </a:extLst>
          </p:cNvPr>
          <p:cNvSpPr>
            <a:spLocks noGrp="1"/>
          </p:cNvSpPr>
          <p:nvPr/>
        </p:nvSpPr>
        <p:spPr>
          <a:xfrm>
            <a:off x="8798379" y="4373513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姓名</a:t>
            </a:r>
            <a:endParaRPr sz="2175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97F6E6-2B46-4BE6-2AC4-CA4999F1CB61}"/>
              </a:ext>
            </a:extLst>
          </p:cNvPr>
          <p:cNvSpPr>
            <a:spLocks noGrp="1"/>
          </p:cNvSpPr>
          <p:nvPr/>
        </p:nvSpPr>
        <p:spPr>
          <a:xfrm>
            <a:off x="8645979" y="4827814"/>
            <a:ext cx="2305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公司 title</a:t>
            </a:r>
          </a:p>
        </p:txBody>
      </p:sp>
    </p:spTree>
    <p:extLst>
      <p:ext uri="{BB962C8B-B14F-4D97-AF65-F5344CB8AC3E}">
        <p14:creationId xmlns:p14="http://schemas.microsoft.com/office/powerpoint/2010/main" val="167851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-AGENDA / 今日议程">
            <a:extLst>
              <a:ext uri="{FF2B5EF4-FFF2-40B4-BE49-F238E27FC236}">
                <a16:creationId xmlns:a16="http://schemas.microsoft.com/office/drawing/2014/main" id="{5BD0A1CA-F101-49AC-ACB1-BCF2FFCE30A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8D9CBD-8243-4DE9-A77F-F4FA0467918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95E88A-B27E-47A5-8F44-7E0169C154C0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31F922-279F-4FE6-AC1E-4E5A16867B84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95250" cy="40005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80F19D-DD88-4FC8-81AB-14FC6A01F07C}"/>
              </a:ext>
            </a:extLst>
          </p:cNvPr>
          <p:cNvSpPr>
            <a:spLocks noGrp="1"/>
          </p:cNvSpPr>
          <p:nvPr/>
        </p:nvSpPr>
        <p:spPr>
          <a:xfrm>
            <a:off x="1028700" y="2092341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09:30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71CCA5-A3A5-443C-8EE7-E9418776BEDF}"/>
              </a:ext>
            </a:extLst>
          </p:cNvPr>
          <p:cNvSpPr>
            <a:spLocks noGrp="1"/>
          </p:cNvSpPr>
          <p:nvPr/>
        </p:nvSpPr>
        <p:spPr>
          <a:xfrm>
            <a:off x="2628900" y="2089702"/>
            <a:ext cx="647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实时互动的下一条增长曲线</a:t>
            </a:r>
            <a:endParaRPr sz="2000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34F2C0-82AB-4E76-AF75-415335D13C44}"/>
              </a:ext>
            </a:extLst>
          </p:cNvPr>
          <p:cNvSpPr>
            <a:spLocks noGrp="1"/>
          </p:cNvSpPr>
          <p:nvPr/>
        </p:nvSpPr>
        <p:spPr>
          <a:xfrm>
            <a:off x="9620250" y="21431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125" b="1"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chemeClr val="accent3"/>
                </a:solidFill>
                <a:latin typeface="Source Han Sans CN Bold"/>
                <a:ea typeface="Source Han Sans CN Bold"/>
                <a:cs typeface="Source Han Sans CN Bold"/>
              </a:rPr>
              <a:t>OPENING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1771D-E2BF-4B4F-8DD4-CE92C48744B4}"/>
              </a:ext>
            </a:extLst>
          </p:cNvPr>
          <p:cNvSpPr>
            <a:spLocks noGrp="1"/>
          </p:cNvSpPr>
          <p:nvPr/>
        </p:nvSpPr>
        <p:spPr>
          <a:xfrm>
            <a:off x="685800" y="2867025"/>
            <a:ext cx="10820400" cy="9525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F69B04-AB2E-4F4D-A083-F17E0B0305DF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95250" cy="4000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909B9F-BC49-4C3E-A773-291785544499}"/>
              </a:ext>
            </a:extLst>
          </p:cNvPr>
          <p:cNvSpPr>
            <a:spLocks noGrp="1"/>
          </p:cNvSpPr>
          <p:nvPr/>
        </p:nvSpPr>
        <p:spPr>
          <a:xfrm>
            <a:off x="1028700" y="3074793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10:20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D7668C-4895-4577-9CA7-69F141C8D75A}"/>
              </a:ext>
            </a:extLst>
          </p:cNvPr>
          <p:cNvSpPr>
            <a:spLocks noGrp="1"/>
          </p:cNvSpPr>
          <p:nvPr/>
        </p:nvSpPr>
        <p:spPr>
          <a:xfrm>
            <a:off x="2628900" y="3044841"/>
            <a:ext cx="647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AI Agent 如何获得自然的实时感</a:t>
            </a:r>
            <a:endParaRPr sz="2000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1574F5-A1EE-4E3A-B28C-DF74F02DADBF}"/>
              </a:ext>
            </a:extLst>
          </p:cNvPr>
          <p:cNvSpPr>
            <a:spLocks noGrp="1"/>
          </p:cNvSpPr>
          <p:nvPr/>
        </p:nvSpPr>
        <p:spPr>
          <a:xfrm>
            <a:off x="9620250" y="31242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125" b="1"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chemeClr val="accent3"/>
                </a:solidFill>
                <a:latin typeface="Source Han Sans CN Bold"/>
                <a:ea typeface="Source Han Sans CN Bold"/>
                <a:cs typeface="Source Han Sans CN Bold"/>
              </a:rPr>
              <a:t>KEYNOTE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6EFEE3-BA40-46D3-B4B0-F944DFE8F538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9525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13BD61-97F3-4E10-B0DA-47F560197F0E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95250" cy="400050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0ADD57-43F1-4AB2-BF20-A66BD1B81978}"/>
              </a:ext>
            </a:extLst>
          </p:cNvPr>
          <p:cNvSpPr>
            <a:spLocks noGrp="1"/>
          </p:cNvSpPr>
          <p:nvPr/>
        </p:nvSpPr>
        <p:spPr>
          <a:xfrm>
            <a:off x="1028700" y="4044966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11:10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258008-DCA2-4498-874B-D2D90A9D4CC7}"/>
              </a:ext>
            </a:extLst>
          </p:cNvPr>
          <p:cNvSpPr>
            <a:spLocks noGrp="1"/>
          </p:cNvSpPr>
          <p:nvPr/>
        </p:nvSpPr>
        <p:spPr>
          <a:xfrm>
            <a:off x="2628900" y="4025916"/>
            <a:ext cx="647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从技术基础到场景落地</a:t>
            </a:r>
            <a:endParaRPr sz="2000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A22651-B842-4766-8085-E5DB3C93CBEC}"/>
              </a:ext>
            </a:extLst>
          </p:cNvPr>
          <p:cNvSpPr>
            <a:spLocks noGrp="1"/>
          </p:cNvSpPr>
          <p:nvPr/>
        </p:nvSpPr>
        <p:spPr>
          <a:xfrm>
            <a:off x="9620250" y="410527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125" b="1"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chemeClr val="accent3"/>
                </a:solidFill>
                <a:latin typeface="Source Han Sans CN Bold"/>
                <a:ea typeface="Source Han Sans CN Bold"/>
                <a:cs typeface="Source Han Sans CN Bold"/>
              </a:rPr>
              <a:t>PANEL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216A0F-1D61-4D78-9801-FE5E0505AABB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10820400" cy="9525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26088C-60B1-43E4-A9E1-609A39A9C492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95250" cy="400050"/>
          </a:xfrm>
          <a:prstGeom prst="rect">
            <a:avLst/>
          </a:prstGeom>
          <a:solidFill>
            <a:schemeClr val="accent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A17054-6B2F-4113-A9E8-A25760CA97B3}"/>
              </a:ext>
            </a:extLst>
          </p:cNvPr>
          <p:cNvSpPr>
            <a:spLocks noGrp="1"/>
          </p:cNvSpPr>
          <p:nvPr/>
        </p:nvSpPr>
        <p:spPr>
          <a:xfrm>
            <a:off x="1028700" y="5026041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14:00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57C2BAF-482D-492F-BE25-192F1C01BBFA}"/>
              </a:ext>
            </a:extLst>
          </p:cNvPr>
          <p:cNvSpPr>
            <a:spLocks noGrp="1"/>
          </p:cNvSpPr>
          <p:nvPr/>
        </p:nvSpPr>
        <p:spPr>
          <a:xfrm>
            <a:off x="2628900" y="5006991"/>
            <a:ext cx="647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开发者实践与生态共创</a:t>
            </a:r>
            <a:endParaRPr sz="2000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488715-7915-451F-845C-2DDDB9CCA6F6}"/>
              </a:ext>
            </a:extLst>
          </p:cNvPr>
          <p:cNvSpPr>
            <a:spLocks noGrp="1"/>
          </p:cNvSpPr>
          <p:nvPr/>
        </p:nvSpPr>
        <p:spPr>
          <a:xfrm>
            <a:off x="9620250" y="50863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125" b="1">
                <a:latin typeface="IBM Plex Mono"/>
                <a:ea typeface="IBM Plex Mono"/>
                <a:cs typeface="IBM Plex Mono"/>
              </a:defRPr>
            </a:pPr>
            <a:r>
              <a:rPr sz="1125" b="1">
                <a:solidFill>
                  <a:schemeClr val="accent3"/>
                </a:solidFill>
                <a:latin typeface="Source Han Sans CN Bold"/>
                <a:ea typeface="Source Han Sans CN Bold"/>
                <a:cs typeface="Source Han Sans CN Bold"/>
              </a:rPr>
              <a:t>WORKSHOP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1D212E-EB9E-4D02-BE45-76857075FF6E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9525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8C4A5C-3A02-46F8-0C10-739A0C8CB7C3}"/>
              </a:ext>
            </a:extLst>
          </p:cNvPr>
          <p:cNvSpPr>
            <a:spLocks noGrp="1"/>
          </p:cNvSpPr>
          <p:nvPr/>
        </p:nvSpPr>
        <p:spPr>
          <a:xfrm>
            <a:off x="685799" y="952500"/>
            <a:ext cx="9860191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标题写在这里</a:t>
            </a:r>
          </a:p>
          <a:p>
            <a:pPr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endParaRPr sz="3200" b="1">
              <a:latin typeface="Source Han Sans CN Bold"/>
              <a:ea typeface="Source Han Sans CN Bold"/>
              <a:cs typeface="Source Han Sans CN Bold"/>
            </a:endParaRPr>
          </a:p>
        </p:txBody>
      </p:sp>
    </p:spTree>
    <p:extLst>
      <p:ext uri="{BB962C8B-B14F-4D97-AF65-F5344CB8AC3E}">
        <p14:creationId xmlns:p14="http://schemas.microsoft.com/office/powerpoint/2010/main" val="1076566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-CONTENT / 双栏内容">
            <a:extLst>
              <a:ext uri="{FF2B5EF4-FFF2-40B4-BE49-F238E27FC236}">
                <a16:creationId xmlns:a16="http://schemas.microsoft.com/office/drawing/2014/main" id="{3ADDD1B1-E238-4448-A266-1CDA3E11D65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  <a:endParaRPr sz="1200" b="1"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124C81-7806-4D4A-9F89-18B11BB9299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908DA6-163F-4B80-990E-82F49C647292}"/>
              </a:ext>
            </a:extLst>
          </p:cNvPr>
          <p:cNvSpPr>
            <a:spLocks noGrp="1"/>
          </p:cNvSpPr>
          <p:nvPr/>
        </p:nvSpPr>
        <p:spPr>
          <a:xfrm>
            <a:off x="685799" y="952500"/>
            <a:ext cx="9860191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一个标题，承载一组清晰论证</a:t>
            </a:r>
            <a:endParaRPr sz="39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797EFD-08F5-4149-B23E-0073168539C5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9525" cy="3505200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C7FF0F-16CF-4F66-8215-1B82098E90B5}"/>
              </a:ext>
            </a:extLst>
          </p:cNvPr>
          <p:cNvSpPr>
            <a:spLocks noGrp="1"/>
          </p:cNvSpPr>
          <p:nvPr/>
        </p:nvSpPr>
        <p:spPr>
          <a:xfrm>
            <a:off x="685800" y="19370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01 / WHY NOW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FB5067-C50B-44C2-8649-8DA90F4AF5DD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3150" b="1">
                <a:latin typeface="Alimama ShuHeiTi"/>
                <a:ea typeface="Alimama ShuHeiTi"/>
                <a:cs typeface="Alimama ShuHeiTi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实时感是智能体验</a:t>
            </a:r>
            <a:endParaRPr sz="2800" b="1">
              <a:latin typeface="Alimama ShuHeiTi"/>
              <a:ea typeface="Alimama ShuHeiTi"/>
              <a:cs typeface="Alimama ShuHeiTi"/>
            </a:endParaRPr>
          </a:p>
          <a:p>
            <a:pPr algn="l">
              <a:lnSpc>
                <a:spcPct val="150000"/>
              </a:lnSpc>
              <a:buNone/>
              <a:defRPr sz="3150" b="1">
                <a:latin typeface="Alimama ShuHeiTi"/>
                <a:ea typeface="Alimama ShuHeiTi"/>
                <a:cs typeface="Alimama ShuHeiTi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能否被信任的前提</a:t>
            </a:r>
            <a:endParaRPr sz="2800" b="1">
              <a:latin typeface="Alimama ShuHeiTi"/>
              <a:ea typeface="Alimama ShuHeiTi"/>
              <a:cs typeface="Alimama ShuHeiT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E689EF-5E7C-44E8-93AA-F2FFA06F88A1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476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低延迟只是起点，真正的体验来自连续理解、即时生成与自然打断。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0A8BF8-6EE5-40E7-9E42-77F8ABF83BC3}"/>
              </a:ext>
            </a:extLst>
          </p:cNvPr>
          <p:cNvSpPr>
            <a:spLocks noGrp="1"/>
          </p:cNvSpPr>
          <p:nvPr/>
        </p:nvSpPr>
        <p:spPr>
          <a:xfrm>
            <a:off x="6667500" y="19370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1">
                <a:latin typeface="IBM Plex Mono"/>
                <a:ea typeface="IBM Plex Mono"/>
                <a:cs typeface="IBM Plex Mono"/>
              </a:defRPr>
            </a:pPr>
            <a:r>
              <a:rPr sz="20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02 / WHAT CHANGES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C7DAC2-2DE1-4428-BE2C-5623C8754CC7}"/>
              </a:ext>
            </a:extLst>
          </p:cNvPr>
          <p:cNvSpPr>
            <a:spLocks noGrp="1"/>
          </p:cNvSpPr>
          <p:nvPr/>
        </p:nvSpPr>
        <p:spPr>
          <a:xfrm>
            <a:off x="6667500" y="2657475"/>
            <a:ext cx="171450" cy="17145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A87B7A-9F61-4262-8412-C3A6FB017B3F}"/>
              </a:ext>
            </a:extLst>
          </p:cNvPr>
          <p:cNvSpPr>
            <a:spLocks noGrp="1"/>
          </p:cNvSpPr>
          <p:nvPr/>
        </p:nvSpPr>
        <p:spPr>
          <a:xfrm>
            <a:off x="7105650" y="24782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从传输链路延伸到智能链路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EE8F34-CCC6-4916-83F7-72FD2B622128}"/>
              </a:ext>
            </a:extLst>
          </p:cNvPr>
          <p:cNvSpPr>
            <a:spLocks noGrp="1"/>
          </p:cNvSpPr>
          <p:nvPr/>
        </p:nvSpPr>
        <p:spPr>
          <a:xfrm>
            <a:off x="6667500" y="3524250"/>
            <a:ext cx="171450" cy="1714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E10CD4-C0FE-45AE-8663-5CFBE6D7218F}"/>
              </a:ext>
            </a:extLst>
          </p:cNvPr>
          <p:cNvSpPr>
            <a:spLocks noGrp="1"/>
          </p:cNvSpPr>
          <p:nvPr/>
        </p:nvSpPr>
        <p:spPr>
          <a:xfrm>
            <a:off x="7105650" y="3357046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从单次指令变成持续协作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468201-3E3D-43F3-AEFA-B102876CFEE3}"/>
              </a:ext>
            </a:extLst>
          </p:cNvPr>
          <p:cNvSpPr>
            <a:spLocks noGrp="1"/>
          </p:cNvSpPr>
          <p:nvPr/>
        </p:nvSpPr>
        <p:spPr>
          <a:xfrm>
            <a:off x="6667500" y="4391025"/>
            <a:ext cx="171450" cy="171450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D94BB0-0449-4000-A85F-58A3E4619531}"/>
              </a:ext>
            </a:extLst>
          </p:cNvPr>
          <p:cNvSpPr>
            <a:spLocks noGrp="1"/>
          </p:cNvSpPr>
          <p:nvPr/>
        </p:nvSpPr>
        <p:spPr>
          <a:xfrm>
            <a:off x="7105650" y="42100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2100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从工具响应升级为环境感知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BB448E-6363-42A8-AB4B-4CF361BA8CA6}"/>
              </a:ext>
            </a:extLst>
          </p:cNvPr>
          <p:cNvSpPr>
            <a:spLocks noGrp="1"/>
          </p:cNvSpPr>
          <p:nvPr/>
        </p:nvSpPr>
        <p:spPr>
          <a:xfrm>
            <a:off x="6667500" y="5191125"/>
            <a:ext cx="95250" cy="95250"/>
          </a:xfrm>
          <a:prstGeom prst="rect">
            <a:avLst/>
          </a:prstGeom>
          <a:solidFill>
            <a:schemeClr val="accent1">
              <a:lumMod val="7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365D5D-2A3B-40FF-9CCA-34065202E1B6}"/>
              </a:ext>
            </a:extLst>
          </p:cNvPr>
          <p:cNvSpPr>
            <a:spLocks noGrp="1"/>
          </p:cNvSpPr>
          <p:nvPr/>
        </p:nvSpPr>
        <p:spPr>
          <a:xfrm>
            <a:off x="6838950" y="5191125"/>
            <a:ext cx="95250" cy="95250"/>
          </a:xfrm>
          <a:prstGeom prst="rect">
            <a:avLst/>
          </a:prstGeom>
          <a:solidFill>
            <a:schemeClr val="accent2">
              <a:lumMod val="9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12D82D-4FC7-4A54-9E0B-834DB2F3B0B7}"/>
              </a:ext>
            </a:extLst>
          </p:cNvPr>
          <p:cNvSpPr>
            <a:spLocks noGrp="1"/>
          </p:cNvSpPr>
          <p:nvPr/>
        </p:nvSpPr>
        <p:spPr>
          <a:xfrm>
            <a:off x="7010400" y="5191125"/>
            <a:ext cx="95250" cy="95250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9F737D-41D6-4815-982D-AC6D074274F5}"/>
              </a:ext>
            </a:extLst>
          </p:cNvPr>
          <p:cNvSpPr>
            <a:spLocks noGrp="1"/>
          </p:cNvSpPr>
          <p:nvPr/>
        </p:nvSpPr>
        <p:spPr>
          <a:xfrm>
            <a:off x="7181850" y="5191125"/>
            <a:ext cx="95250" cy="95250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1969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IMAGE + TEXT">
            <a:extLst>
              <a:ext uri="{FF2B5EF4-FFF2-40B4-BE49-F238E27FC236}">
                <a16:creationId xmlns:a16="http://schemas.microsoft.com/office/drawing/2014/main" id="{8ADF4ADA-BBD6-4F15-B853-0A429857C34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0D5E2D-AF21-43EA-9EBB-2DD8B67C269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096000" cy="4305300"/>
          </a:xfrm>
          <a:prstGeom prst="rect">
            <a:avLst/>
          </a:prstGeom>
          <a:solidFill>
            <a:schemeClr val="dk2">
              <a:lumMod val="96000"/>
              <a:lumOff val="4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C49BD8-7B16-4570-B313-8455CA8AC494}"/>
              </a:ext>
            </a:extLst>
          </p:cNvPr>
          <p:cNvSpPr>
            <a:spLocks noGrp="1"/>
          </p:cNvSpPr>
          <p:nvPr/>
        </p:nvSpPr>
        <p:spPr>
          <a:xfrm>
            <a:off x="1047749" y="4857750"/>
            <a:ext cx="558165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解释说明文字</a:t>
            </a:r>
            <a:endParaRPr sz="1200" b="1"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10AB73-7699-49A8-B816-22E67D5CAFB6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3905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小标题写在这里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F935824-AE24-71CA-77F2-ED19110F06D8}"/>
              </a:ext>
            </a:extLst>
          </p:cNvPr>
          <p:cNvSpPr>
            <a:spLocks noGrp="1"/>
          </p:cNvSpPr>
          <p:nvPr/>
        </p:nvSpPr>
        <p:spPr>
          <a:xfrm>
            <a:off x="7334250" y="2240892"/>
            <a:ext cx="3466004" cy="4712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>
              <a:lnSpc>
                <a:spcPct val="150000"/>
              </a:lnSpc>
              <a:buNone/>
            </a:pPr>
            <a:r>
              <a:rPr sz="20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文案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EF5A38-2547-67B6-D25C-D35349C74A51}"/>
              </a:ext>
            </a:extLst>
          </p:cNvPr>
          <p:cNvSpPr>
            <a:spLocks noGrp="1"/>
          </p:cNvSpPr>
          <p:nvPr/>
        </p:nvSpPr>
        <p:spPr>
          <a:xfrm>
            <a:off x="7334251" y="2712107"/>
            <a:ext cx="4171950" cy="13230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just">
              <a:lnSpc>
                <a:spcPct val="150000"/>
              </a:lnSpc>
              <a:buNone/>
            </a:pPr>
            <a:r>
              <a:rPr sz="140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例子：音频是实时互动最初的载体，它在实时互动场景演变的过程中也在不断经历着算法革新，并与新技术进行融合。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CDD805-E6CF-84FA-E790-476B832CFFF2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8857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-DATA / 可编辑图表">
            <a:extLst>
              <a:ext uri="{FF2B5EF4-FFF2-40B4-BE49-F238E27FC236}">
                <a16:creationId xmlns:a16="http://schemas.microsoft.com/office/drawing/2014/main" id="{0778E315-40C7-4FB5-8B97-8D5D9B71B02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6B3FF8-53C0-4C32-B1B2-6E87A38A0167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750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数据只保留一个需要被记住的结论</a:t>
            </a:r>
          </a:p>
        </p:txBody>
      </p:sp>
      <p:sp>
        <p:nvSpPr>
          <p:cNvPr id="6" name="hero-number">
            <a:extLst>
              <a:ext uri="{FF2B5EF4-FFF2-40B4-BE49-F238E27FC236}">
                <a16:creationId xmlns:a16="http://schemas.microsoft.com/office/drawing/2014/main" id="{59898258-03CD-484E-B0DB-E1C532924475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238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buNone/>
              <a:defRPr sz="8700" b="0">
                <a:latin typeface="Z Labs Bitmap 12px JP"/>
                <a:ea typeface="Z Labs Bitmap 12px JP"/>
                <a:cs typeface="Z Labs Bitmap 12px JP"/>
              </a:defRPr>
            </a:pPr>
            <a:r>
              <a:rPr sz="870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82%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CE409D-E6EE-4742-AB0D-99D33218EE24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  <a:defRPr sz="1800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示例核心指标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C2134C-8E1F-42C5-9F15-91CCC924ACA6}"/>
              </a:ext>
            </a:extLst>
          </p:cNvPr>
          <p:cNvSpPr>
            <a:spLocks noGrp="1"/>
          </p:cNvSpPr>
          <p:nvPr/>
        </p:nvSpPr>
        <p:spPr>
          <a:xfrm>
            <a:off x="723900" y="4114800"/>
            <a:ext cx="3429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157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图表与数字均为 PowerPoint 原生可编辑对象。替换数据后，请同步改写本页标题。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4762500" y="1952625"/>
          <a:ext cx="6572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15A0E766-6A20-6DDF-B1F1-AEE37B6447A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405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COMPARISON / 对比">
            <a:extLst>
              <a:ext uri="{FF2B5EF4-FFF2-40B4-BE49-F238E27FC236}">
                <a16:creationId xmlns:a16="http://schemas.microsoft.com/office/drawing/2014/main" id="{2F993EE7-CF00-4A17-A784-4FCD551794D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  <a:endParaRPr sz="1200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E1FAF2-BA0B-474F-BEFC-8177C41F979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10EBD7-B33A-421B-99A9-DC045C93045F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7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从“响应指令”到“持续协作”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5933E8-EEE4-4ED7-A7CA-93972BE3D668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572000" cy="3429000"/>
          </a:xfrm>
          <a:prstGeom prst="rect">
            <a:avLst/>
          </a:prstGeom>
          <a:solidFill>
            <a:schemeClr val="dk2">
              <a:lumMod val="94000"/>
              <a:lumOff val="6000"/>
            </a:schemeClr>
          </a:solidFill>
          <a:ln w="9525">
            <a:solidFill>
              <a:schemeClr val="accent3">
                <a:lumMod val="4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107FD5-F19D-4BD4-9A15-1D0E6C9C8F2F}"/>
              </a:ext>
            </a:extLst>
          </p:cNvPr>
          <p:cNvSpPr>
            <a:spLocks noGrp="1"/>
          </p:cNvSpPr>
          <p:nvPr/>
        </p:nvSpPr>
        <p:spPr>
          <a:xfrm>
            <a:off x="6934200" y="1962150"/>
            <a:ext cx="4572000" cy="3429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FAA556-B949-48EF-A4ED-6563F146851A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latin typeface="IBM Plex Mono"/>
                <a:ea typeface="IBM Plex Mono"/>
                <a:cs typeface="IBM Plex Mono"/>
              </a:defRPr>
            </a:pPr>
            <a:r>
              <a:rPr sz="1275" b="1">
                <a:solidFill>
                  <a:schemeClr val="accent3"/>
                </a:solidFill>
                <a:latin typeface="Source Han Sans CN Bold"/>
                <a:ea typeface="Source Han Sans CN Bold"/>
                <a:cs typeface="Source Han Sans CN Bold"/>
              </a:rPr>
              <a:t>NOW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BE9C46-A5E2-4C02-8A03-25EC5F73DA22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3300" b="1">
                <a:latin typeface="Alimama ShuHeiTi"/>
                <a:ea typeface="Alimama ShuHeiTi"/>
                <a:cs typeface="Alimama ShuHeiTi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单次响应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47BDE6-5BE8-4E39-A781-2EFCEA2BC0C4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3333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• 等待明确指令</a:t>
            </a:r>
          </a:p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• 每轮对话重新开始</a:t>
            </a:r>
          </a:p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• 反馈滞后于上下文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18391F-C305-406D-AAAA-BBD7AED0B89B}"/>
              </a:ext>
            </a:extLst>
          </p:cNvPr>
          <p:cNvSpPr>
            <a:spLocks noGrp="1"/>
          </p:cNvSpPr>
          <p:nvPr/>
        </p:nvSpPr>
        <p:spPr>
          <a:xfrm>
            <a:off x="7239000" y="2247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latin typeface="IBM Plex Mono"/>
                <a:ea typeface="IBM Plex Mono"/>
                <a:cs typeface="IBM Plex Mono"/>
              </a:defRPr>
            </a:pPr>
            <a:r>
              <a:rPr sz="1275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NEXT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E359CE-D10A-405C-879F-158CBEE5BAC2}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3300" b="1">
                <a:latin typeface="Alimama ShuHeiTi"/>
                <a:ea typeface="Alimama ShuHeiTi"/>
                <a:cs typeface="Alimama ShuHeiTi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持续协作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265C4D-CA54-4465-8A0A-4FAF8FA6C352}"/>
              </a:ext>
            </a:extLst>
          </p:cNvPr>
          <p:cNvSpPr>
            <a:spLocks noGrp="1"/>
          </p:cNvSpPr>
          <p:nvPr/>
        </p:nvSpPr>
        <p:spPr>
          <a:xfrm>
            <a:off x="7239000" y="3638550"/>
            <a:ext cx="3333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• 理解连续语境</a:t>
            </a:r>
          </a:p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• 主动感知变化</a:t>
            </a:r>
          </a:p>
          <a:p>
            <a:pPr algn="l">
              <a:lnSpc>
                <a:spcPct val="150000"/>
              </a:lnSpc>
              <a:buNone/>
              <a:defRPr sz="17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• 在关键时刻介入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F95B83-2022-438F-B6BA-78329D7D8C7F}"/>
              </a:ext>
            </a:extLst>
          </p:cNvPr>
          <p:cNvSpPr>
            <a:spLocks noGrp="1"/>
          </p:cNvSpPr>
          <p:nvPr/>
        </p:nvSpPr>
        <p:spPr>
          <a:xfrm>
            <a:off x="5638800" y="3105150"/>
            <a:ext cx="9048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/>
          </a:bodyPr>
          <a:lstStyle/>
          <a:p>
            <a:pPr algn="ctr">
              <a:buNone/>
              <a:defRPr sz="6300" b="1">
                <a:latin typeface="IBM Plex Mono"/>
                <a:ea typeface="IBM Plex Mono"/>
                <a:cs typeface="IBM Plex Mono"/>
              </a:defRPr>
            </a:pPr>
            <a:r>
              <a:rPr sz="63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25565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icker-PROCESS / 三步流程">
            <a:extLst>
              <a:ext uri="{FF2B5EF4-FFF2-40B4-BE49-F238E27FC236}">
                <a16:creationId xmlns:a16="http://schemas.microsoft.com/office/drawing/2014/main" id="{D752B7C6-EA00-4588-848D-424E40FA7A3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B55F5B-BC6A-4DCD-ADE6-1C6937D3039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058ABF-2395-424A-BB9A-D2803F865BE6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876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750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把复杂过程压缩成三次关键推进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87E8C8-451A-4767-8177-AA3EEA15EEC3}"/>
              </a:ext>
            </a:extLst>
          </p:cNvPr>
          <p:cNvSpPr>
            <a:spLocks noGrp="1"/>
          </p:cNvSpPr>
          <p:nvPr/>
        </p:nvSpPr>
        <p:spPr>
          <a:xfrm>
            <a:off x="2114550" y="2943225"/>
            <a:ext cx="8001000" cy="38100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445A157-5865-43A8-9A7E-6EE949E7768A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1200150" cy="1200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04D1F5-EF25-4981-BDE7-60447E3B9EF6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625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63740B-F838-480F-B358-DFBF7B291CE8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感知上下文</a:t>
            </a:r>
            <a:endParaRPr sz="2175" b="1"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992F58-5195-4EBD-8F68-C79E6BB68869}"/>
              </a:ext>
            </a:extLst>
          </p:cNvPr>
          <p:cNvSpPr>
            <a:spLocks noGrp="1"/>
          </p:cNvSpPr>
          <p:nvPr/>
        </p:nvSpPr>
        <p:spPr>
          <a:xfrm>
            <a:off x="514350" y="44386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建立实时信号与环境变化的连续输入。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D307E1-8DE7-4421-BBCD-F366421A1727}"/>
              </a:ext>
            </a:extLst>
          </p:cNvPr>
          <p:cNvSpPr>
            <a:spLocks noGrp="1"/>
          </p:cNvSpPr>
          <p:nvPr/>
        </p:nvSpPr>
        <p:spPr>
          <a:xfrm>
            <a:off x="4762500" y="2362200"/>
            <a:ext cx="1200150" cy="1200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E0194C-CE59-4918-9566-8CA162BBDE74}"/>
              </a:ext>
            </a:extLst>
          </p:cNvPr>
          <p:cNvSpPr>
            <a:spLocks noGrp="1"/>
          </p:cNvSpPr>
          <p:nvPr/>
        </p:nvSpPr>
        <p:spPr>
          <a:xfrm>
            <a:off x="4762500" y="26479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625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8FD509-FDF7-4CD6-92CA-3F83C2EB7004}"/>
              </a:ext>
            </a:extLst>
          </p:cNvPr>
          <p:cNvSpPr>
            <a:spLocks noGrp="1"/>
          </p:cNvSpPr>
          <p:nvPr/>
        </p:nvSpPr>
        <p:spPr>
          <a:xfrm>
            <a:off x="4362450" y="38671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理解意图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7A0B68-F038-4447-A7FD-3F1B401D72C2}"/>
              </a:ext>
            </a:extLst>
          </p:cNvPr>
          <p:cNvSpPr>
            <a:spLocks noGrp="1"/>
          </p:cNvSpPr>
          <p:nvPr/>
        </p:nvSpPr>
        <p:spPr>
          <a:xfrm>
            <a:off x="4210050" y="44386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把语音、画面与行为组织成可执行判断。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18799E4-F74D-4AB7-B3DC-952AC60836AB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1200150" cy="1200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4994C5-E554-4598-9792-FFE2B2772C31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625" b="1">
                <a:latin typeface="IBM Plex Mono"/>
                <a:ea typeface="IBM Plex Mono"/>
                <a:cs typeface="IBM Plex Mono"/>
              </a:defRPr>
            </a:pPr>
            <a:r>
              <a:rPr sz="2625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FB55C5-A58C-46A0-843F-DAC24426AD30}"/>
              </a:ext>
            </a:extLst>
          </p:cNvPr>
          <p:cNvSpPr>
            <a:spLocks noGrp="1"/>
          </p:cNvSpPr>
          <p:nvPr/>
        </p:nvSpPr>
        <p:spPr>
          <a:xfrm>
            <a:off x="8058150" y="38671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17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即时响应</a:t>
            </a:r>
            <a:endParaRPr sz="2175" b="1"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6D135F-9944-4D05-A823-D74D3472E3E7}"/>
              </a:ext>
            </a:extLst>
          </p:cNvPr>
          <p:cNvSpPr>
            <a:spLocks noGrp="1"/>
          </p:cNvSpPr>
          <p:nvPr/>
        </p:nvSpPr>
        <p:spPr>
          <a:xfrm>
            <a:off x="7905750" y="44386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425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在自然节奏中生成、打断并继续协作。</a:t>
            </a:r>
          </a:p>
        </p:txBody>
      </p:sp>
    </p:spTree>
    <p:extLst>
      <p:ext uri="{BB962C8B-B14F-4D97-AF65-F5344CB8AC3E}">
        <p14:creationId xmlns:p14="http://schemas.microsoft.com/office/powerpoint/2010/main" val="278687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-TIMELINE / 路线图">
            <a:extLst>
              <a:ext uri="{FF2B5EF4-FFF2-40B4-BE49-F238E27FC236}">
                <a16:creationId xmlns:a16="http://schemas.microsoft.com/office/drawing/2014/main" id="{E6E2D38F-91C5-4CE1-B523-E77390FE4B1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latin typeface="IBM Plex Mono"/>
                <a:ea typeface="IBM Plex Mono"/>
                <a:cs typeface="IBM Plex Mono"/>
              </a:defRPr>
            </a:pPr>
            <a:r>
              <a:rPr sz="14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内容标/小标题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7B1945-B0FF-45D2-82E1-F930BC21D37A}"/>
              </a:ext>
            </a:extLst>
          </p:cNvPr>
          <p:cNvSpPr>
            <a:spLocks noGrp="1"/>
          </p:cNvSpPr>
          <p:nvPr/>
        </p:nvSpPr>
        <p:spPr>
          <a:xfrm>
            <a:off x="685799" y="952500"/>
            <a:ext cx="9860191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825" b="1">
                <a:latin typeface="Alimama ShuHeiTi"/>
                <a:ea typeface="Alimama ShuHeiTi"/>
                <a:cs typeface="Alimama ShuHeiTi"/>
              </a:defRPr>
            </a:pPr>
            <a:r>
              <a:rPr sz="32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一条时间线，连接四个关键节点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4A1DDB-2FAC-4312-B61C-A1B705AAE842}"/>
              </a:ext>
            </a:extLst>
          </p:cNvPr>
          <p:cNvSpPr>
            <a:spLocks noGrp="1"/>
          </p:cNvSpPr>
          <p:nvPr/>
        </p:nvSpPr>
        <p:spPr>
          <a:xfrm>
            <a:off x="1352550" y="3238500"/>
            <a:ext cx="9448800" cy="28575"/>
          </a:xfrm>
          <a:prstGeom prst="rect">
            <a:avLst/>
          </a:prstGeom>
          <a:solidFill>
            <a:schemeClr val="accent3">
              <a:lumMod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FD4CA10-ADC9-4CE0-AB55-96CE19D37ECC}"/>
              </a:ext>
            </a:extLst>
          </p:cNvPr>
          <p:cNvSpPr>
            <a:spLocks noGrp="1"/>
          </p:cNvSpPr>
          <p:nvPr/>
        </p:nvSpPr>
        <p:spPr>
          <a:xfrm>
            <a:off x="1485900" y="3038475"/>
            <a:ext cx="438150" cy="438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B818F87-16A2-45BF-9F66-99330C451E54}"/>
              </a:ext>
            </a:extLst>
          </p:cNvPr>
          <p:cNvSpPr>
            <a:spLocks noGrp="1"/>
          </p:cNvSpPr>
          <p:nvPr/>
        </p:nvSpPr>
        <p:spPr>
          <a:xfrm>
            <a:off x="1638300" y="3190875"/>
            <a:ext cx="133350" cy="133350"/>
          </a:xfrm>
          <a:prstGeom prst="ellipse">
            <a:avLst/>
          </a:prstGeom>
          <a:solidFill>
            <a:schemeClr val="accent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FC9F90-4B38-464E-A2F1-8C65AE4030BF}"/>
              </a:ext>
            </a:extLst>
          </p:cNvPr>
          <p:cNvSpPr>
            <a:spLocks noGrp="1"/>
          </p:cNvSpPr>
          <p:nvPr/>
        </p:nvSpPr>
        <p:spPr>
          <a:xfrm>
            <a:off x="1314450" y="2333625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Q1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1591A1-1E1E-4F10-8C15-BE535D395235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02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定义问题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9EBAB4-1B97-4466-BF71-1541EB2B00D4}"/>
              </a:ext>
            </a:extLst>
          </p:cNvPr>
          <p:cNvSpPr>
            <a:spLocks noGrp="1"/>
          </p:cNvSpPr>
          <p:nvPr/>
        </p:nvSpPr>
        <p:spPr>
          <a:xfrm>
            <a:off x="704850" y="434340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350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聚焦高价值互动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EA02230-2299-4D99-8FE5-A2138EB10EB1}"/>
              </a:ext>
            </a:extLst>
          </p:cNvPr>
          <p:cNvSpPr>
            <a:spLocks noGrp="1"/>
          </p:cNvSpPr>
          <p:nvPr/>
        </p:nvSpPr>
        <p:spPr>
          <a:xfrm>
            <a:off x="4248150" y="3038475"/>
            <a:ext cx="438150" cy="438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FF7BDA5-2BF9-4E0C-8CFD-9116FE525495}"/>
              </a:ext>
            </a:extLst>
          </p:cNvPr>
          <p:cNvSpPr>
            <a:spLocks noGrp="1"/>
          </p:cNvSpPr>
          <p:nvPr/>
        </p:nvSpPr>
        <p:spPr>
          <a:xfrm>
            <a:off x="4400550" y="3190875"/>
            <a:ext cx="133350" cy="133350"/>
          </a:xfrm>
          <a:prstGeom prst="ellipse">
            <a:avLst/>
          </a:prstGeom>
          <a:solidFill>
            <a:schemeClr val="accent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CC46FC-C6CA-4023-AC0B-04D197389E82}"/>
              </a:ext>
            </a:extLst>
          </p:cNvPr>
          <p:cNvSpPr>
            <a:spLocks noGrp="1"/>
          </p:cNvSpPr>
          <p:nvPr/>
        </p:nvSpPr>
        <p:spPr>
          <a:xfrm>
            <a:off x="4076700" y="2333625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chemeClr val="accent2"/>
                </a:solidFill>
                <a:latin typeface="Source Han Sans CN Bold"/>
                <a:ea typeface="Source Han Sans CN Bold"/>
                <a:cs typeface="Source Han Sans CN Bold"/>
              </a:rPr>
              <a:t>Q2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9DC092-02E5-454C-8A3A-84AE857D870E}"/>
              </a:ext>
            </a:extLst>
          </p:cNvPr>
          <p:cNvSpPr>
            <a:spLocks noGrp="1"/>
          </p:cNvSpPr>
          <p:nvPr/>
        </p:nvSpPr>
        <p:spPr>
          <a:xfrm>
            <a:off x="3562350" y="37814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02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验证场景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52BD2B-5B10-419E-99CE-7E5D6C2F8DD1}"/>
              </a:ext>
            </a:extLst>
          </p:cNvPr>
          <p:cNvSpPr>
            <a:spLocks noGrp="1"/>
          </p:cNvSpPr>
          <p:nvPr/>
        </p:nvSpPr>
        <p:spPr>
          <a:xfrm>
            <a:off x="3467100" y="434340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350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完成原型与测试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86AF251-7301-4B57-957C-8DF309FFB77C}"/>
              </a:ext>
            </a:extLst>
          </p:cNvPr>
          <p:cNvSpPr>
            <a:spLocks noGrp="1"/>
          </p:cNvSpPr>
          <p:nvPr/>
        </p:nvSpPr>
        <p:spPr>
          <a:xfrm>
            <a:off x="7010400" y="3038475"/>
            <a:ext cx="438150" cy="438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3D4F67E-212F-4EA6-9F1D-8E9A3F3BABF1}"/>
              </a:ext>
            </a:extLst>
          </p:cNvPr>
          <p:cNvSpPr>
            <a:spLocks noGrp="1"/>
          </p:cNvSpPr>
          <p:nvPr/>
        </p:nvSpPr>
        <p:spPr>
          <a:xfrm>
            <a:off x="7162800" y="3190875"/>
            <a:ext cx="133350" cy="133350"/>
          </a:xfrm>
          <a:prstGeom prst="ellipse">
            <a:avLst/>
          </a:prstGeom>
          <a:solidFill>
            <a:schemeClr val="accent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9FC781-B98B-4C26-A310-A0AC825DC8E7}"/>
              </a:ext>
            </a:extLst>
          </p:cNvPr>
          <p:cNvSpPr>
            <a:spLocks noGrp="1"/>
          </p:cNvSpPr>
          <p:nvPr/>
        </p:nvSpPr>
        <p:spPr>
          <a:xfrm>
            <a:off x="6838950" y="2333625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chemeClr val="accent4"/>
                </a:solidFill>
                <a:latin typeface="Source Han Sans CN Bold"/>
                <a:ea typeface="Source Han Sans CN Bold"/>
                <a:cs typeface="Source Han Sans CN Bold"/>
              </a:rPr>
              <a:t>Q3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14DFC5-104F-4329-AFF5-6EB5F436EAC4}"/>
              </a:ext>
            </a:extLst>
          </p:cNvPr>
          <p:cNvSpPr>
            <a:spLocks noGrp="1"/>
          </p:cNvSpPr>
          <p:nvPr/>
        </p:nvSpPr>
        <p:spPr>
          <a:xfrm>
            <a:off x="6324600" y="37814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02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规模部署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A4CCBE-7CB8-4199-BBDF-42E6CBD98B4E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350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复制成熟方法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FFB703D-F14B-4BBB-AC16-42F9E2EF672B}"/>
              </a:ext>
            </a:extLst>
          </p:cNvPr>
          <p:cNvSpPr>
            <a:spLocks noGrp="1"/>
          </p:cNvSpPr>
          <p:nvPr/>
        </p:nvSpPr>
        <p:spPr>
          <a:xfrm>
            <a:off x="9772650" y="3038475"/>
            <a:ext cx="438150" cy="438150"/>
          </a:xfrm>
          <a:prstGeom prst="ellipse">
            <a:avLst/>
          </a:prstGeom>
          <a:solidFill>
            <a:schemeClr val="dk2"/>
          </a:solidFill>
          <a:ln w="47625">
            <a:solidFill>
              <a:schemeClr val="accent1">
                <a:lumMod val="7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2C76585-26F7-499C-952E-5532AACC6B4E}"/>
              </a:ext>
            </a:extLst>
          </p:cNvPr>
          <p:cNvSpPr>
            <a:spLocks noGrp="1"/>
          </p:cNvSpPr>
          <p:nvPr/>
        </p:nvSpPr>
        <p:spPr>
          <a:xfrm>
            <a:off x="9925050" y="3190875"/>
            <a:ext cx="133350" cy="133350"/>
          </a:xfrm>
          <a:prstGeom prst="ellipse">
            <a:avLst/>
          </a:prstGeom>
          <a:solidFill>
            <a:schemeClr val="accent1">
              <a:lumMod val="7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54EE45-2C77-42B4-92A0-975DD8673D4A}"/>
              </a:ext>
            </a:extLst>
          </p:cNvPr>
          <p:cNvSpPr>
            <a:spLocks noGrp="1"/>
          </p:cNvSpPr>
          <p:nvPr/>
        </p:nvSpPr>
        <p:spPr>
          <a:xfrm>
            <a:off x="9601200" y="2333625"/>
            <a:ext cx="78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1"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chemeClr val="accent1">
                    <a:lumMod val="70000"/>
                  </a:schemeClr>
                </a:solidFill>
                <a:latin typeface="Source Han Sans CN Bold"/>
                <a:ea typeface="Source Han Sans CN Bold"/>
                <a:cs typeface="Source Han Sans CN Bold"/>
              </a:rPr>
              <a:t>Q4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19B2F40-FD89-4E70-A5DA-BAD3A8A887FC}"/>
              </a:ext>
            </a:extLst>
          </p:cNvPr>
          <p:cNvSpPr>
            <a:spLocks noGrp="1"/>
          </p:cNvSpPr>
          <p:nvPr/>
        </p:nvSpPr>
        <p:spPr>
          <a:xfrm>
            <a:off x="9086850" y="37814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2025" b="1">
                <a:latin typeface="PingFang SC"/>
                <a:ea typeface="PingFang SC"/>
                <a:cs typeface="PingFang SC"/>
              </a:defRPr>
            </a:pPr>
            <a:r>
              <a:rPr sz="20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生态共创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28740C7-1A5C-42AB-A744-B69126A44662}"/>
              </a:ext>
            </a:extLst>
          </p:cNvPr>
          <p:cNvSpPr>
            <a:spLocks noGrp="1"/>
          </p:cNvSpPr>
          <p:nvPr/>
        </p:nvSpPr>
        <p:spPr>
          <a:xfrm>
            <a:off x="8991600" y="434340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 sz="1350" b="0"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chemeClr val="accent3">
                    <a:lumMod val="60000"/>
                    <a:lumOff val="40000"/>
                  </a:schemeClr>
                </a:solidFill>
                <a:latin typeface="Source Han Sans CN Regular"/>
                <a:ea typeface="Source Han Sans CN Regular"/>
                <a:cs typeface="Source Han Sans CN Regular"/>
              </a:rPr>
              <a:t>开放伙伴能力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779A4D-7B7D-DC86-DE4B-B0427C1A7EC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14350" cy="28575"/>
          </a:xfrm>
          <a:prstGeom prst="rect">
            <a:avLst/>
          </a:prstGeom>
          <a:solidFill>
            <a:schemeClr val="accent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191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a-title">
            <a:extLst>
              <a:ext uri="{FF2B5EF4-FFF2-40B4-BE49-F238E27FC236}">
                <a16:creationId xmlns:a16="http://schemas.microsoft.com/office/drawing/2014/main" id="{A8C88E22-742B-4667-8FA6-952E7E9F6BCF}"/>
              </a:ext>
            </a:extLst>
          </p:cNvPr>
          <p:cNvSpPr>
            <a:spLocks noGrp="1"/>
          </p:cNvSpPr>
          <p:nvPr/>
        </p:nvSpPr>
        <p:spPr>
          <a:xfrm>
            <a:off x="685800" y="1107425"/>
            <a:ext cx="666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buNone/>
              <a:defRPr sz="12750" b="1">
                <a:latin typeface="IBM Plex Mono"/>
                <a:ea typeface="IBM Plex Mono"/>
                <a:cs typeface="IBM Plex Mono"/>
              </a:defRPr>
            </a:pPr>
            <a:r>
              <a:rPr sz="12750" b="1">
                <a:solidFill>
                  <a:schemeClr val="accent1"/>
                </a:solidFill>
                <a:latin typeface="Source Han Sans CN Bold"/>
                <a:ea typeface="Source Han Sans CN Bold"/>
                <a:cs typeface="Source Han Sans CN Bold"/>
              </a:rPr>
              <a:t>Q&amp;A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3A231-C4BD-4195-B335-122E7B8C46F3}"/>
              </a:ext>
            </a:extLst>
          </p:cNvPr>
          <p:cNvSpPr>
            <a:spLocks noGrp="1"/>
          </p:cNvSpPr>
          <p:nvPr/>
        </p:nvSpPr>
        <p:spPr>
          <a:xfrm>
            <a:off x="685800" y="338390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325" b="1">
                <a:latin typeface="IBM Plex Mono"/>
                <a:ea typeface="IBM Plex Mono"/>
                <a:cs typeface="IBM Plex Mono"/>
              </a:defRPr>
            </a:pPr>
            <a:r>
              <a:rPr sz="2400" b="1">
                <a:solidFill>
                  <a:schemeClr val="lt1"/>
                </a:solidFill>
                <a:latin typeface="Source Han Sans CN Bold"/>
                <a:ea typeface="Source Han Sans CN Bold"/>
                <a:cs typeface="Source Han Sans CN Bold"/>
              </a:rPr>
              <a:t>&gt; 有什么想一起继续讨论？</a:t>
            </a:r>
          </a:p>
        </p:txBody>
      </p:sp>
      <p:pic>
        <p:nvPicPr>
          <p:cNvPr id="9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45991" y="248698"/>
            <a:ext cx="1414450" cy="51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53984"/>
      </p:ext>
    </p:extLst>
  </p:cSld>
  <p:clrMapOvr>
    <a:masterClrMapping/>
  </p:clrMapOvr>
</p:sld>
</file>

<file path=ppt/theme/theme1.xml><?xml version="1.0" encoding="utf-8"?>
<a:theme xmlns:a="http://schemas.openxmlformats.org/drawingml/2006/main" name="iRTE 2026">
  <a:themeElements>
    <a:clrScheme name="自定义 170">
      <a:dk1>
        <a:srgbClr val="000000"/>
      </a:dk1>
      <a:lt1>
        <a:srgbClr val="FFFFFF"/>
      </a:lt1>
      <a:dk2>
        <a:srgbClr val="080C14"/>
      </a:dk2>
      <a:lt2>
        <a:srgbClr val="0A361B"/>
      </a:lt2>
      <a:accent1>
        <a:srgbClr val="96FF9D"/>
      </a:accent1>
      <a:accent2>
        <a:srgbClr val="7FF4FF"/>
      </a:accent2>
      <a:accent3>
        <a:srgbClr val="8993A5"/>
      </a:accent3>
      <a:accent4>
        <a:srgbClr val="B29BFF"/>
      </a:accent4>
      <a:accent5>
        <a:srgbClr val="5C22A5"/>
      </a:accent5>
      <a:accent6>
        <a:srgbClr val="004660"/>
      </a:accent6>
      <a:hlink>
        <a:srgbClr val="7FF4FF"/>
      </a:hlink>
      <a:folHlink>
        <a:srgbClr val="B29BFF"/>
      </a:folHlink>
    </a:clrScheme>
    <a:fontScheme name="iRTE Source Han Sans CN">
      <a:majorFont>
        <a:latin typeface="Source Han Sans CN Bold"/>
        <a:ea typeface="Source Han Sans CN Bold"/>
        <a:cs typeface="Source Han Sans CN Bold"/>
      </a:majorFont>
      <a:minorFont>
        <a:latin typeface="Source Han Sans CN Regular"/>
        <a:ea typeface="Source Han Sans CN Regular"/>
        <a:cs typeface="Source Han Sans CN Regular"/>
      </a:minorFont>
    </a:fontScheme>
    <a:fmtScheme name="iRTE 2026 KV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RTE 2026">
  <a:themeElements>
    <a:clrScheme name="自定义 170">
      <a:dk1>
        <a:srgbClr val="000000"/>
      </a:dk1>
      <a:lt1>
        <a:srgbClr val="FFFFFF"/>
      </a:lt1>
      <a:dk2>
        <a:srgbClr val="080C14"/>
      </a:dk2>
      <a:lt2>
        <a:srgbClr val="0A361B"/>
      </a:lt2>
      <a:accent1>
        <a:srgbClr val="96FF9D"/>
      </a:accent1>
      <a:accent2>
        <a:srgbClr val="7FF4FF"/>
      </a:accent2>
      <a:accent3>
        <a:srgbClr val="8993A5"/>
      </a:accent3>
      <a:accent4>
        <a:srgbClr val="B29BFF"/>
      </a:accent4>
      <a:accent5>
        <a:srgbClr val="5C22A5"/>
      </a:accent5>
      <a:accent6>
        <a:srgbClr val="004660"/>
      </a:accent6>
      <a:hlink>
        <a:srgbClr val="7FF4FF"/>
      </a:hlink>
      <a:folHlink>
        <a:srgbClr val="B29BFF"/>
      </a:folHlink>
    </a:clrScheme>
    <a:fontScheme name="iRTE Source Han Sans CN">
      <a:majorFont>
        <a:latin typeface="Source Han Sans CN Bold"/>
        <a:ea typeface="Source Han Sans CN Bold"/>
        <a:cs typeface="Source Han Sans CN Bold"/>
      </a:majorFont>
      <a:minorFont>
        <a:latin typeface="Source Han Sans CN Regular"/>
        <a:ea typeface="Source Han Sans CN Regular"/>
        <a:cs typeface="Source Han Sans CN Regular"/>
      </a:minorFont>
    </a:fontScheme>
    <a:fmtScheme name="自定义 17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Macintosh PowerPoint</Application>
  <DocSecurity>0</DocSecurity>
  <PresentationFormat>宽屏</PresentationFormat>
  <Paragraphs>176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Alimama ShuHeiTi</vt:lpstr>
      <vt:lpstr>PingFang SC</vt:lpstr>
      <vt:lpstr>Source Han Sans CN Bold</vt:lpstr>
      <vt:lpstr>Source Han Sans CN Regular</vt:lpstr>
      <vt:lpstr>Z Labs Bitmap 12px JP</vt:lpstr>
      <vt:lpstr>Arial</vt:lpstr>
      <vt:lpstr>IBM Plex Mono</vt:lpstr>
      <vt:lpstr>iRTE 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Huang,Jin</cp:lastModifiedBy>
  <cp:revision>2</cp:revision>
  <dcterms:created xsi:type="dcterms:W3CDTF">2026-08-28T09:27:05Z</dcterms:created>
  <dcterms:modified xsi:type="dcterms:W3CDTF">2026-08-28T09:33:29Z</dcterms:modified>
</cp:coreProperties>
</file>